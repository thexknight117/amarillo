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02336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C04E5C"/>
                </a:solidFill>
                <a:latin typeface="Aptos"/>
              </a:rPr>
              <a:t>17  ANEXO ·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2B2A26"/>
                </a:solidFill>
                <a:latin typeface="Aptos"/>
              </a:rPr>
              <a:t>Tabla de roles aplicada a Dolce‑Vita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161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646058"/>
                </a:solidFill>
                <a:latin typeface="Aptos"/>
              </a:rPr>
              <a:t>Responsabilidades definidas según el material oficial de la asignatura.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694944" cy="45720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6058"/>
                </a:solidFill>
                <a:latin typeface="Aptos"/>
              </a:rPr>
              <a:t>Diseño de Software · Semana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6058"/>
                </a:solidFill>
                <a:latin typeface="Aptos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865376"/>
          <a:ext cx="11045952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08"/>
                <a:gridCol w="3794760"/>
                <a:gridCol w="5129784"/>
              </a:tblGrid>
              <a:tr h="6781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Rol</a:t>
                      </a:r>
                    </a:p>
                  </a:txBody>
                  <a:tcPr marL="64008" marR="64008" marT="45720" marB="36576">
                    <a:solidFill>
                      <a:srgbClr val="6643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Responsabilidad principal</a:t>
                      </a:r>
                    </a:p>
                  </a:txBody>
                  <a:tcPr marL="64008" marR="64008" marT="45720" marB="36576">
                    <a:solidFill>
                      <a:srgbClr val="6643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Aplicación en Dolce‑Vita</a:t>
                      </a:r>
                    </a:p>
                  </a:txBody>
                  <a:tcPr marL="64008" marR="64008" marT="45720" marB="36576">
                    <a:solidFill>
                      <a:srgbClr val="664330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A26"/>
                          </a:solidFill>
                          <a:latin typeface="Aptos"/>
                        </a:rPr>
                        <a:t>Analista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Captura y documenta requerimientos.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Define reglas de registro, compra, stock, alertas y boleta.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A26"/>
                          </a:solidFill>
                          <a:latin typeface="Aptos"/>
                        </a:rPr>
                        <a:t>Diseñador/a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Crea la arquitectura y los diagramas UML.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Modela usuarios, productos, carro, inventario y ventas.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A26"/>
                          </a:solidFill>
                          <a:latin typeface="Aptos"/>
                        </a:rPr>
                        <a:t>Programador/a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Implementa el código del sistema.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Programa módulos de acceso, compra, stock y boleta.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A26"/>
                          </a:solidFill>
                          <a:latin typeface="Aptos"/>
                        </a:rPr>
                        <a:t>Tester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Verifica que el software cumpla los requisitos.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Prueba compra, inventario, alertas y emisión de boleta.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A26"/>
                          </a:solidFill>
                          <a:latin typeface="Aptos"/>
                        </a:rPr>
                        <a:t>Administrador/a de proyecto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Planifica, coordina y supervisa.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Organiza iteraciones, recursos, plazos, riesgos e hitos.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062472"/>
            <a:ext cx="1074420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646058"/>
                </a:solidFill>
                <a:latin typeface="Aptos"/>
              </a:rPr>
              <a:t>Fuente: Santo Tomás Online. Tabla de roles y responsabilidades en el Proceso Unificado.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02336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C04E5C"/>
                </a:solidFill>
                <a:latin typeface="Aptos"/>
              </a:rPr>
              <a:t>18  ANEXO · TABLA DE FASES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2B2A26"/>
                </a:solidFill>
                <a:latin typeface="Aptos"/>
              </a:rPr>
              <a:t>Fases del Proceso Unificado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161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646058"/>
                </a:solidFill>
                <a:latin typeface="Aptos"/>
              </a:rPr>
              <a:t>Actividades y artefactos vinculados al caso de ventas en línea.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694944" cy="45720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6058"/>
                </a:solidFill>
                <a:latin typeface="Aptos"/>
              </a:rPr>
              <a:t>Diseño de Software · Semana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6058"/>
                </a:solidFill>
                <a:latin typeface="Aptos"/>
              </a:rPr>
              <a:t>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3192" y="1847088"/>
          <a:ext cx="11402567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48"/>
                <a:gridCol w="3749039"/>
                <a:gridCol w="2596896"/>
                <a:gridCol w="3758184"/>
              </a:tblGrid>
              <a:tr h="8138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Fase</a:t>
                      </a:r>
                    </a:p>
                  </a:txBody>
                  <a:tcPr marL="64008" marR="64008" marT="45720" marB="36576">
                    <a:solidFill>
                      <a:srgbClr val="2E69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Actividades principales</a:t>
                      </a:r>
                    </a:p>
                  </a:txBody>
                  <a:tcPr marL="64008" marR="64008" marT="45720" marB="36576">
                    <a:solidFill>
                      <a:srgbClr val="2E69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Artefactos</a:t>
                      </a:r>
                    </a:p>
                  </a:txBody>
                  <a:tcPr marL="64008" marR="64008" marT="45720" marB="36576">
                    <a:solidFill>
                      <a:srgbClr val="2E69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Dolce‑Vita</a:t>
                      </a:r>
                    </a:p>
                  </a:txBody>
                  <a:tcPr marL="64008" marR="64008" marT="45720" marB="36576">
                    <a:solidFill>
                      <a:srgbClr val="2E6958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A26"/>
                          </a:solidFill>
                          <a:latin typeface="Aptos"/>
                        </a:rPr>
                        <a:t>Inicio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Requisitos, alcance, planificación y costos.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Casos de uso y visión.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Priorizar acceso, compra, stock y boleta.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A26"/>
                          </a:solidFill>
                          <a:latin typeface="Aptos"/>
                        </a:rPr>
                        <a:t>Elaboración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Análisis, diseño, arquitectura, iteraciones y riesgos.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UML y prototipos.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Validar arquitectura de ventas y stock.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A26"/>
                          </a:solidFill>
                          <a:latin typeface="Aptos"/>
                        </a:rPr>
                        <a:t>Construcción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Implementación, integración, pruebas y revisiones.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Código y manual técnico.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Construir módulos por incremento.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A26"/>
                          </a:solidFill>
                          <a:latin typeface="Aptos"/>
                        </a:rPr>
                        <a:t>Transición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Pruebas finales, despliegue, capacitación y estabilización.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Plan y manual de usuario.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A26"/>
                          </a:solidFill>
                          <a:latin typeface="Aptos"/>
                        </a:rPr>
                        <a:t>Piloto, correcciones y puesta en marcha.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062472"/>
            <a:ext cx="1074420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646058"/>
                </a:solidFill>
                <a:latin typeface="Aptos"/>
              </a:rPr>
              <a:t>Fuente: Santo Tomás Online. Tabla de fases del Proceso Unificado de Desarrollo de Software.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Proceso Unificado aplicado a Dolce‑Vita</dc:title>
  <dc:subject>Presentación oficial con tablas de referencia</dc:subject>
  <dc:creator>Cristopher Alexander Bañares Suarez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