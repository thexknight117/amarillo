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A845"/>
          </a:solidFill>
          <a:ln>
            <a:solidFill>
              <a:srgbClr val="39A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859536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2263A"/>
                </a:solidFill>
                <a:latin typeface="Aptos"/>
              </a:rPr>
              <a:t>Proceso Unificado aplicado al rediseño de Frogger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8046720" cy="2377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27D98"/>
                </a:solidFill>
                <a:latin typeface="Aptos"/>
              </a:rPr>
              <a:t>Flujo iterativo para modernizar el juego retro y llevarlo a PC y dispositivos móviles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292608"/>
            <a:ext cx="2487168" cy="530352"/>
          </a:xfrm>
          <a:prstGeom prst="roundRect">
            <a:avLst/>
          </a:prstGeom>
          <a:solidFill>
            <a:srgbClr val="12263A"/>
          </a:solidFill>
          <a:ln>
            <a:solidFill>
              <a:srgbClr val="1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CRISTOPHER ALEXANDER
BAÑARES SUAREZ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344168"/>
            <a:ext cx="256032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344168"/>
            <a:ext cx="2560320" cy="658368"/>
          </a:xfrm>
          <a:prstGeom prst="roundRect">
            <a:avLst/>
          </a:prstGeom>
          <a:solidFill>
            <a:srgbClr val="39A845"/>
          </a:solidFill>
          <a:ln>
            <a:solidFill>
              <a:srgbClr val="39A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444752"/>
            <a:ext cx="41148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1435608"/>
            <a:ext cx="16459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148840"/>
            <a:ext cx="224028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2263A"/>
                </a:solidFill>
                <a:latin typeface="Aptos"/>
              </a:rPr>
              <a:t>Definir alcance y comprobar la viabilidad del rediseño.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71576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39A845"/>
                </a:solidFill>
                <a:latin typeface="Aptos"/>
              </a:rPr>
              <a:t>ACTIVIDADES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944368"/>
            <a:ext cx="2258568" cy="1673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60" b="0">
                <a:solidFill>
                  <a:srgbClr val="243B53"/>
                </a:solidFill>
                <a:latin typeface="Aptos"/>
              </a:rPr>
              <a:t>• Acordar estética retro, fecha límite y versiones PC/móvil.
• Identificar casos de uso: iniciar partida, mover la rana y cruzar el nivel.
• Detectar riesgos de controles táctiles y compatibilidad.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468172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39A845"/>
                </a:solidFill>
                <a:latin typeface="Aptos"/>
              </a:rPr>
              <a:t>ARTEFACTOS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" y="4919472"/>
            <a:ext cx="2249424" cy="173736"/>
          </a:xfrm>
          <a:prstGeom prst="roundRect">
            <a:avLst/>
          </a:prstGeom>
          <a:solidFill>
            <a:srgbClr val="EAF7EB"/>
          </a:solidFill>
          <a:ln>
            <a:solidFill>
              <a:srgbClr val="EA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39A845"/>
                </a:solidFill>
                <a:latin typeface="Aptos"/>
              </a:rPr>
              <a:t>Visión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" y="5120640"/>
            <a:ext cx="2249424" cy="173736"/>
          </a:xfrm>
          <a:prstGeom prst="roundRect">
            <a:avLst/>
          </a:prstGeom>
          <a:solidFill>
            <a:srgbClr val="EAF7EB"/>
          </a:solidFill>
          <a:ln>
            <a:solidFill>
              <a:srgbClr val="EA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39A845"/>
                </a:solidFill>
                <a:latin typeface="Aptos"/>
              </a:rPr>
              <a:t>Casos de uso iniciales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7" y="5321808"/>
            <a:ext cx="2249424" cy="173736"/>
          </a:xfrm>
          <a:prstGeom prst="roundRect">
            <a:avLst/>
          </a:prstGeom>
          <a:solidFill>
            <a:srgbClr val="EAF7EB"/>
          </a:solidFill>
          <a:ln>
            <a:solidFill>
              <a:srgbClr val="EA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39A845"/>
                </a:solidFill>
                <a:latin typeface="Aptos"/>
              </a:rPr>
              <a:t>Lista de riesgos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62656" y="1664208"/>
            <a:ext cx="356616" cy="0"/>
          </a:xfrm>
          <a:prstGeom prst="line">
            <a:avLst/>
          </a:prstGeom>
          <a:ln w="2540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37560" y="1344168"/>
            <a:ext cx="256032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37560" y="1344168"/>
            <a:ext cx="2560320" cy="658368"/>
          </a:xfrm>
          <a:prstGeom prst="roundRect">
            <a:avLst/>
          </a:prstGeom>
          <a:solidFill>
            <a:srgbClr val="F59E42"/>
          </a:solidFill>
          <a:ln>
            <a:solidFill>
              <a:srgbClr val="F59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1444752"/>
            <a:ext cx="41148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1435608"/>
            <a:ext cx="16459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ELABORACIÓN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2148840"/>
            <a:ext cx="224028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2263A"/>
                </a:solidFill>
                <a:latin typeface="Aptos"/>
              </a:rPr>
              <a:t>Validar la arquitectura y reducir los riesgos principales.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71576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F59E42"/>
                </a:solidFill>
                <a:latin typeface="Aptos"/>
              </a:rPr>
              <a:t>ACTIVIDADES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944368"/>
            <a:ext cx="2258568" cy="1673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60" b="0">
                <a:solidFill>
                  <a:srgbClr val="243B53"/>
                </a:solidFill>
                <a:latin typeface="Aptos"/>
              </a:rPr>
              <a:t>• Refinar movimiento, colisiones, vidas, puntaje y pausa.
• Prototipar controles de teclado y pantalla táctil.
• Diseñar motor, niveles, obstáculos e interfaz multiplataforma.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68172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F59E42"/>
                </a:solidFill>
                <a:latin typeface="Aptos"/>
              </a:rPr>
              <a:t>ARTEFACTOS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919472"/>
            <a:ext cx="2249424" cy="173736"/>
          </a:xfrm>
          <a:prstGeom prst="roundRect">
            <a:avLst/>
          </a:prstGeom>
          <a:solidFill>
            <a:srgbClr val="FFF3E7"/>
          </a:solidFill>
          <a:ln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F59E42"/>
                </a:solidFill>
                <a:latin typeface="Aptos"/>
              </a:rPr>
              <a:t>Diagrama de clases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5120640"/>
            <a:ext cx="2249424" cy="173736"/>
          </a:xfrm>
          <a:prstGeom prst="roundRect">
            <a:avLst/>
          </a:prstGeom>
          <a:solidFill>
            <a:srgbClr val="FFF3E7"/>
          </a:solidFill>
          <a:ln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F59E42"/>
                </a:solidFill>
                <a:latin typeface="Aptos"/>
              </a:rPr>
              <a:t>Secuencia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321808"/>
            <a:ext cx="2249424" cy="173736"/>
          </a:xfrm>
          <a:prstGeom prst="roundRect">
            <a:avLst/>
          </a:prstGeom>
          <a:solidFill>
            <a:srgbClr val="FFF3E7"/>
          </a:solidFill>
          <a:ln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F59E42"/>
                </a:solidFill>
                <a:latin typeface="Aptos"/>
              </a:rPr>
              <a:t>Prototipo jugable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16168" y="1664208"/>
            <a:ext cx="356616" cy="0"/>
          </a:xfrm>
          <a:prstGeom prst="line">
            <a:avLst/>
          </a:prstGeom>
          <a:ln w="2540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91072" y="1344168"/>
            <a:ext cx="256032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344168"/>
            <a:ext cx="2560320" cy="658368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1444752"/>
            <a:ext cx="41148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1435608"/>
            <a:ext cx="16459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CONSTRUCCIÓN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148840"/>
            <a:ext cx="224028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2263A"/>
                </a:solidFill>
                <a:latin typeface="Aptos"/>
              </a:rPr>
              <a:t>Desarrollar el juego mediante incrementos funcionales.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71576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2F80ED"/>
                </a:solidFill>
                <a:latin typeface="Aptos"/>
              </a:rPr>
              <a:t>ACTIVIDADES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2944368"/>
            <a:ext cx="2258568" cy="1673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60" b="0">
                <a:solidFill>
                  <a:srgbClr val="243B53"/>
                </a:solidFill>
                <a:latin typeface="Aptos"/>
              </a:rPr>
              <a:t>• I1: movimiento, mapa y colisiones básicas.
• I2: tráfico, río, vidas, puntaje y dificultad.
• I3: interfaz retro, audio y controles PC/móvil; integrar y probar.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68172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2F80ED"/>
                </a:solidFill>
                <a:latin typeface="Aptos"/>
              </a:rPr>
              <a:t>ARTEFACTOS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28232" y="4919472"/>
            <a:ext cx="2249424" cy="173736"/>
          </a:xfrm>
          <a:prstGeom prst="round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2F80ED"/>
                </a:solidFill>
                <a:latin typeface="Aptos"/>
              </a:rPr>
              <a:t>Código fuente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28232" y="5120640"/>
            <a:ext cx="2249424" cy="173736"/>
          </a:xfrm>
          <a:prstGeom prst="round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2F80ED"/>
                </a:solidFill>
                <a:latin typeface="Aptos"/>
              </a:rPr>
              <a:t>Builds jugables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28232" y="5321808"/>
            <a:ext cx="2249424" cy="173736"/>
          </a:xfrm>
          <a:prstGeom prst="round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2F80ED"/>
                </a:solidFill>
                <a:latin typeface="Aptos"/>
              </a:rPr>
              <a:t>Pruebas unitarias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69680" y="1664208"/>
            <a:ext cx="356616" cy="0"/>
          </a:xfrm>
          <a:prstGeom prst="line">
            <a:avLst/>
          </a:prstGeom>
          <a:ln w="2540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244584" y="1344168"/>
            <a:ext cx="256032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44584" y="1344168"/>
            <a:ext cx="2560320" cy="65836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81744" y="1444752"/>
            <a:ext cx="41148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84663" y="1435608"/>
            <a:ext cx="16459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TRANSICIÓN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2148840"/>
            <a:ext cx="224028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2263A"/>
                </a:solidFill>
                <a:latin typeface="Aptos"/>
              </a:rPr>
              <a:t>Entregar una versión estable y aceptada por usuarios.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271576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8B5CF6"/>
                </a:solidFill>
                <a:latin typeface="Aptos"/>
              </a:rPr>
              <a:t>ACTIVIDADES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81744" y="2944368"/>
            <a:ext cx="2258568" cy="1673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60" b="0">
                <a:solidFill>
                  <a:srgbClr val="243B53"/>
                </a:solidFill>
                <a:latin typeface="Aptos"/>
              </a:rPr>
              <a:t>• Probar compatibilidad, rendimiento y controles en PC/móvil.
• Realizar beta con jugadores y corregir observaciones.
• Publicar paquetes finales y entregar soporte básico.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4681728"/>
            <a:ext cx="12801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1">
                <a:solidFill>
                  <a:srgbClr val="8B5CF6"/>
                </a:solidFill>
                <a:latin typeface="Aptos"/>
              </a:rPr>
              <a:t>ARTEFACTOS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81744" y="4919472"/>
            <a:ext cx="2249424" cy="173736"/>
          </a:xfrm>
          <a:prstGeom prst="roundRect">
            <a:avLst/>
          </a:prstGeom>
          <a:solidFill>
            <a:srgbClr val="F2ECFF"/>
          </a:solidFill>
          <a:ln>
            <a:solidFill>
              <a:srgbClr val="F2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8B5CF6"/>
                </a:solidFill>
                <a:latin typeface="Aptos"/>
              </a:rPr>
              <a:t>Versión final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81744" y="5120640"/>
            <a:ext cx="2249424" cy="173736"/>
          </a:xfrm>
          <a:prstGeom prst="roundRect">
            <a:avLst/>
          </a:prstGeom>
          <a:solidFill>
            <a:srgbClr val="F2ECFF"/>
          </a:solidFill>
          <a:ln>
            <a:solidFill>
              <a:srgbClr val="F2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8B5CF6"/>
                </a:solidFill>
                <a:latin typeface="Aptos"/>
              </a:rPr>
              <a:t>Informe de aceptación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81744" y="5321808"/>
            <a:ext cx="2249424" cy="173736"/>
          </a:xfrm>
          <a:prstGeom prst="roundRect">
            <a:avLst/>
          </a:prstGeom>
          <a:solidFill>
            <a:srgbClr val="F2ECFF"/>
          </a:solidFill>
          <a:ln>
            <a:solidFill>
              <a:srgbClr val="F2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" rIns="13716" tIns="13716" bIns="13716"/>
          <a:lstStyle/>
          <a:p>
            <a:pPr algn="l"/>
            <a:r>
              <a:rPr sz="680" b="1">
                <a:solidFill>
                  <a:srgbClr val="8B5CF6"/>
                </a:solidFill>
                <a:latin typeface="Aptos"/>
              </a:rPr>
              <a:t>Manual de usuario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07208" y="1042415"/>
            <a:ext cx="1225296" cy="1920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650" b="1">
                <a:solidFill>
                  <a:srgbClr val="627D98"/>
                </a:solidFill>
                <a:latin typeface="Aptos"/>
              </a:rPr>
              <a:t>Alcance aprobado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51576" y="1042415"/>
            <a:ext cx="1225296" cy="1920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650" b="1">
                <a:solidFill>
                  <a:srgbClr val="627D98"/>
                </a:solidFill>
                <a:latin typeface="Aptos"/>
              </a:rPr>
              <a:t>Arquitectura base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8512" y="1042415"/>
            <a:ext cx="1225296" cy="1920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650" b="1">
                <a:solidFill>
                  <a:srgbClr val="627D98"/>
                </a:solidFill>
                <a:latin typeface="Aptos"/>
              </a:rPr>
              <a:t>Incrementos listos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5742432"/>
            <a:ext cx="11420856" cy="768096"/>
          </a:xfrm>
          <a:prstGeom prst="roundRect">
            <a:avLst/>
          </a:prstGeom>
          <a:solidFill>
            <a:srgbClr val="12263A"/>
          </a:solidFill>
          <a:ln>
            <a:solidFill>
              <a:srgbClr val="1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" y="5916168"/>
            <a:ext cx="1143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ITERACIONES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5870448"/>
            <a:ext cx="516636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40" b="1">
                <a:solidFill>
                  <a:srgbClr val="FFFFFF"/>
                </a:solidFill>
                <a:latin typeface="Aptos"/>
              </a:rPr>
              <a:t>Requisitos  →  diseño  →  implementación  →  pruebas  →  incremento jugable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5852160"/>
            <a:ext cx="4498848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19" b="1">
                <a:solidFill>
                  <a:srgbClr val="CFE8D1"/>
                </a:solidFill>
                <a:latin typeface="Aptos"/>
              </a:rPr>
              <a:t>↶  La beta y las pruebas PC/móvil devuelven ajustes a Construcción y Elaboración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611112"/>
            <a:ext cx="11365992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670" b="0">
                <a:solidFill>
                  <a:srgbClr val="627D98"/>
                </a:solidFill>
                <a:latin typeface="Aptos"/>
              </a:rPr>
              <a:t>Diseño de Software · Semana 2  |  El PU valida temprano y permite adaptar requisitos; no espera al final como un proceso en cascada.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