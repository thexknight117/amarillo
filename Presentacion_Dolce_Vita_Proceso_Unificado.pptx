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50292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1">
                <a:solidFill>
                  <a:srgbClr val="C04E5C"/>
                </a:solidFill>
                <a:latin typeface="Aptos"/>
              </a:rPr>
              <a:t>ACTIVIDAD SUMATIVA · SEMANA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34440"/>
            <a:ext cx="6400800" cy="1508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3100" b="1">
                <a:solidFill>
                  <a:srgbClr val="2B2A26"/>
                </a:solidFill>
                <a:latin typeface="Aptos"/>
              </a:rPr>
              <a:t>Proceso Unificado
aplicado a Dolce‑Vita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926080"/>
            <a:ext cx="566928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0">
                <a:solidFill>
                  <a:srgbClr val="664330"/>
                </a:solidFill>
                <a:latin typeface="Aptos"/>
              </a:rPr>
              <a:t>Propuesta metodológica para un sistema de ventas en línea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931920"/>
            <a:ext cx="5257800" cy="1078992"/>
          </a:xfrm>
          <a:prstGeom prst="roundRect">
            <a:avLst/>
          </a:prstGeom>
          <a:solidFill>
            <a:srgbClr val="E2EEE9"/>
          </a:solidFill>
          <a:ln w="12700">
            <a:solidFill>
              <a:srgbClr val="E2E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51960"/>
            <a:ext cx="484632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Integrante: Cristopher Alexander Bañares Suarez
Asignatura: Diseño de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005840"/>
            <a:ext cx="361188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rapezoid 8"/>
          <p:cNvSpPr/>
          <p:nvPr/>
        </p:nvSpPr>
        <p:spPr>
          <a:xfrm>
            <a:off x="8046720" y="2880360"/>
            <a:ext cx="2468880" cy="1234440"/>
          </a:xfrm>
          <a:prstGeom prst="trapezoid">
            <a:avLst/>
          </a:prstGeom>
          <a:solidFill>
            <a:srgbClr val="F5E4E5"/>
          </a:solidFill>
          <a:ln w="25400">
            <a:solidFill>
              <a:srgbClr val="C04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458200" y="4187952"/>
            <a:ext cx="365760" cy="365760"/>
          </a:xfrm>
          <a:prstGeom prst="ellipse">
            <a:avLst/>
          </a:prstGeom>
          <a:solidFill>
            <a:srgbClr val="664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12680" y="4187952"/>
            <a:ext cx="365760" cy="365760"/>
          </a:xfrm>
          <a:prstGeom prst="ellipse">
            <a:avLst/>
          </a:prstGeom>
          <a:solidFill>
            <a:srgbClr val="664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7635240" y="2450592"/>
            <a:ext cx="548639" cy="548640"/>
          </a:xfrm>
          <a:prstGeom prst="line">
            <a:avLst/>
          </a:prstGeom>
          <a:ln w="38100">
            <a:solidFill>
              <a:srgbClr val="6643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83879" y="1874519"/>
            <a:ext cx="658368" cy="749808"/>
          </a:xfrm>
          <a:prstGeom prst="roundRect">
            <a:avLst/>
          </a:prstGeom>
          <a:solidFill>
            <a:srgbClr val="2E69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06840" y="1572768"/>
            <a:ext cx="658368" cy="749808"/>
          </a:xfrm>
          <a:prstGeom prst="roundRect">
            <a:avLst/>
          </a:prstGeom>
          <a:solidFill>
            <a:srgbClr val="DAA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02368" y="1965960"/>
            <a:ext cx="658368" cy="749808"/>
          </a:xfrm>
          <a:prstGeom prst="round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4828032"/>
            <a:ext cx="1691640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700" b="1">
                <a:solidFill>
                  <a:srgbClr val="664330"/>
                </a:solidFill>
                <a:latin typeface="Aptos"/>
              </a:rPr>
              <a:t>DOLCE
VITA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5852160"/>
            <a:ext cx="205740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0">
                <a:solidFill>
                  <a:srgbClr val="646058"/>
                </a:solidFill>
                <a:latin typeface="Aptos"/>
              </a:rPr>
              <a:t>Presentación editable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02  CASO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Problema y alcance del 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Una tienda en línea requiere compras confiables y control de inventario.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965960"/>
            <a:ext cx="3657600" cy="1847088"/>
          </a:xfrm>
          <a:prstGeom prst="roundRect">
            <a:avLst/>
          </a:prstGeom>
          <a:solidFill>
            <a:srgbClr val="F5E4E5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965960"/>
            <a:ext cx="73152" cy="1847088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121408"/>
            <a:ext cx="331012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C04E5C"/>
                </a:solidFill>
                <a:latin typeface="Aptos"/>
              </a:rPr>
              <a:t>Necesidad del cliente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532888"/>
            <a:ext cx="3310128" cy="115214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2B2A26"/>
                </a:solidFill>
                <a:latin typeface="Aptos"/>
              </a:rPr>
              <a:t>Implementar un canal digital que permita vender uno o más productos mediante un carro de compras, manteniendo información de usuarios, stock y ventas.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005072"/>
            <a:ext cx="3657600" cy="1627632"/>
          </a:xfrm>
          <a:prstGeom prst="roundRect">
            <a:avLst/>
          </a:prstGeom>
          <a:solidFill>
            <a:srgbClr val="E2EEE9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4005072"/>
            <a:ext cx="73152" cy="1627632"/>
          </a:xfrm>
          <a:prstGeom prst="rect">
            <a:avLst/>
          </a:prstGeom>
          <a:solidFill>
            <a:srgbClr val="2E69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4160520"/>
            <a:ext cx="331012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2E6958"/>
                </a:solidFill>
                <a:latin typeface="Aptos"/>
              </a:rPr>
              <a:t>Valor esperado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4572000"/>
            <a:ext cx="3310128" cy="9326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2B2A26"/>
                </a:solidFill>
                <a:latin typeface="Aptos"/>
              </a:rPr>
              <a:t>Reducir errores de inventario, facilitar la compra, alertar faltantes a tiempo y entregar una boleta trazable por cada venta.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1938528"/>
            <a:ext cx="292608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664330"/>
                </a:solidFill>
                <a:latin typeface="Aptos"/>
              </a:rPr>
              <a:t>Capacidades funcionales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432304"/>
            <a:ext cx="6675120" cy="3246120"/>
          </a:xfrm>
          <a:prstGeom prst="rect">
            <a:avLst/>
          </a:prstGeom>
          <a:noFill/>
        </p:spPr>
        <p:txBody>
          <a:bodyPr wrap="square" lIns="45720" rIns="27432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t>• Registro y autenticación de clientes y administradores.</a:t>
            </a:r>
          </a:p>
          <a:p>
            <a:pPr>
              <a:spcAft>
                <a:spcPts val="800"/>
              </a:spcAft>
            </a:pPr>
            <a:r>
              <a:t>• Compra de uno o más productos mediante carro.</a:t>
            </a:r>
          </a:p>
          <a:p>
            <a:pPr>
              <a:spcAft>
                <a:spcPts val="800"/>
              </a:spcAft>
            </a:pPr>
            <a:r>
              <a:t>• Consulta de productos y stock disponible.</a:t>
            </a:r>
          </a:p>
          <a:p>
            <a:pPr>
              <a:spcAft>
                <a:spcPts val="800"/>
              </a:spcAft>
            </a:pPr>
            <a:r>
              <a:t>• Ingreso y actualización de stock.</a:t>
            </a:r>
          </a:p>
          <a:p>
            <a:pPr>
              <a:spcAft>
                <a:spcPts val="800"/>
              </a:spcAft>
            </a:pPr>
            <a:r>
              <a:t>• Alertas automáticas ante stock crítico.</a:t>
            </a:r>
          </a:p>
          <a:p>
            <a:pPr>
              <a:spcAft>
                <a:spcPts val="800"/>
              </a:spcAft>
            </a:pPr>
            <a:r>
              <a:t>• Emisión de boleta de venta.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5596128"/>
            <a:ext cx="6629400" cy="603504"/>
          </a:xfrm>
          <a:prstGeom prst="roundRect">
            <a:avLst/>
          </a:prstGeom>
          <a:solidFill>
            <a:srgbClr val="F7EDD5"/>
          </a:solidFill>
          <a:ln w="12700">
            <a:solidFill>
              <a:srgbClr val="F7E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28032" y="5696712"/>
            <a:ext cx="6236208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1">
                <a:solidFill>
                  <a:srgbClr val="664330"/>
                </a:solidFill>
                <a:latin typeface="Aptos"/>
              </a:rPr>
              <a:t>Alcance inicial: venta, inventario y comprobante; futuras integraciones se gestionan como cambios.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03  METODOLOGÍA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¿Por qué elegir el Proceso Unificado?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Es iterativo, incremental, dirigido por casos de uso y centrado en la arquitectura.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342900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14630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C04E5C"/>
                </a:solidFill>
                <a:latin typeface="Aptos"/>
              </a:rPr>
              <a:t>Decisión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88920"/>
            <a:ext cx="2651760" cy="10058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700" b="1">
                <a:solidFill>
                  <a:srgbClr val="2B2A26"/>
                </a:solidFill>
                <a:latin typeface="Aptos"/>
              </a:rPr>
              <a:t>PROCESO
UNIFICADO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2697480" cy="10789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646058"/>
                </a:solidFill>
                <a:latin typeface="Aptos"/>
              </a:rPr>
              <a:t>Adecuado para construir el sistema por incrementos verificables y mantener trazabilidad entre necesidad, diseño, código y prueba.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1920240"/>
            <a:ext cx="6995160" cy="8321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920240"/>
            <a:ext cx="73152" cy="832104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8576" y="2075688"/>
            <a:ext cx="664768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C04E5C"/>
                </a:solidFill>
                <a:latin typeface="Aptos"/>
              </a:rPr>
              <a:t>Casos de uso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2487168"/>
            <a:ext cx="6647688" cy="137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2B2A26"/>
                </a:solidFill>
                <a:latin typeface="Aptos"/>
              </a:rPr>
              <a:t>Organizan requisitos y entregas alrededor del valor para cada actor.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7408" y="2944368"/>
            <a:ext cx="6995160" cy="8321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7408" y="2944368"/>
            <a:ext cx="73152" cy="832104"/>
          </a:xfrm>
          <a:prstGeom prst="rect">
            <a:avLst/>
          </a:prstGeom>
          <a:solidFill>
            <a:srgbClr val="2E69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08576" y="3099816"/>
            <a:ext cx="664768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2E6958"/>
                </a:solidFill>
                <a:latin typeface="Aptos"/>
              </a:rPr>
              <a:t>Arquitectura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8576" y="3511296"/>
            <a:ext cx="6647688" cy="137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2B2A26"/>
                </a:solidFill>
                <a:latin typeface="Aptos"/>
              </a:rPr>
              <a:t>Estabiliza decisiones críticas antes de ampliar funcionalidades.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8" y="3968496"/>
            <a:ext cx="6995160" cy="8321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07408" y="3968496"/>
            <a:ext cx="73152" cy="832104"/>
          </a:xfrm>
          <a:prstGeom prst="rect">
            <a:avLst/>
          </a:prstGeom>
          <a:solidFill>
            <a:srgbClr val="DAA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08576" y="4123944"/>
            <a:ext cx="664768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DAA64E"/>
                </a:solidFill>
                <a:latin typeface="Aptos"/>
              </a:rPr>
              <a:t>Iteraciones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8576" y="4535424"/>
            <a:ext cx="6647688" cy="137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2B2A26"/>
                </a:solidFill>
                <a:latin typeface="Aptos"/>
              </a:rPr>
              <a:t>Permiten retroalimentación temprana y ajuste controlado.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07408" y="4992624"/>
            <a:ext cx="6995160" cy="8321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4992624"/>
            <a:ext cx="73152" cy="832104"/>
          </a:xfrm>
          <a:prstGeom prst="rect">
            <a:avLst/>
          </a:prstGeom>
          <a:solidFill>
            <a:srgbClr val="664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08576" y="5148072"/>
            <a:ext cx="664768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664330"/>
                </a:solidFill>
                <a:latin typeface="Aptos"/>
              </a:rPr>
              <a:t>Riesgos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08576" y="5559552"/>
            <a:ext cx="6647688" cy="137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2B2A26"/>
                </a:solidFill>
                <a:latin typeface="Aptos"/>
              </a:rPr>
              <a:t>Los problemas técnicos y de negocio se abordan desde el inicio.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089904"/>
            <a:ext cx="1554480" cy="2194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Principio de calidad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80" y="6035040"/>
            <a:ext cx="516636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2B2A26"/>
                </a:solidFill>
                <a:latin typeface="Aptos"/>
              </a:rPr>
              <a:t>Diagramas y arquitectura coherentes → implementación coherente.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04  GESTIÓN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El desarrollo se gestiona como un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Planificación, recursos, programación, roles y control acompañan todas las iteraciones.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984248"/>
            <a:ext cx="2542032" cy="22494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58952" y="2176272"/>
            <a:ext cx="438912" cy="438912"/>
          </a:xfrm>
          <a:prstGeom prst="ellipse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221992"/>
            <a:ext cx="438912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167128"/>
            <a:ext cx="1554480" cy="32918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C04E5C"/>
                </a:solidFill>
                <a:latin typeface="Aptos"/>
              </a:rPr>
              <a:t>Planificar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2167128" cy="11338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Definir alcance, casos de uso, iteraciones, entregables, costos y criterios de aceptación.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0712" y="1984248"/>
            <a:ext cx="2542032" cy="22494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5304" y="2176272"/>
            <a:ext cx="438912" cy="438912"/>
          </a:xfrm>
          <a:prstGeom prst="ellipse">
            <a:avLst/>
          </a:prstGeom>
          <a:solidFill>
            <a:srgbClr val="2E69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5304" y="2221992"/>
            <a:ext cx="438912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2167128"/>
            <a:ext cx="1554480" cy="32918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2E6958"/>
                </a:solidFill>
                <a:latin typeface="Aptos"/>
              </a:rPr>
              <a:t>Asignar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2" y="2788920"/>
            <a:ext cx="2167128" cy="11338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Distribuir personas, herramientas y ambientes según competencias y carga de trabajo.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7064" y="1984248"/>
            <a:ext cx="2542032" cy="22494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91656" y="2176272"/>
            <a:ext cx="438912" cy="438912"/>
          </a:xfrm>
          <a:prstGeom prst="ellipse">
            <a:avLst/>
          </a:prstGeom>
          <a:solidFill>
            <a:srgbClr val="DAA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6" y="2221992"/>
            <a:ext cx="438912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76872" y="2167128"/>
            <a:ext cx="1554480" cy="32918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DAA64E"/>
                </a:solidFill>
                <a:latin typeface="Aptos"/>
              </a:rPr>
              <a:t>Programar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2788920"/>
            <a:ext cx="2167128" cy="11338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Priorizar por valor y riesgo; establecer hitos, dependencias y líneas base.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43416" y="1984248"/>
            <a:ext cx="2542032" cy="22494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08008" y="2176272"/>
            <a:ext cx="438912" cy="438912"/>
          </a:xfrm>
          <a:prstGeom prst="ellipse">
            <a:avLst/>
          </a:prstGeom>
          <a:solidFill>
            <a:srgbClr val="664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08008" y="2221992"/>
            <a:ext cx="438912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93224" y="2167128"/>
            <a:ext cx="1554480" cy="32918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664330"/>
                </a:solidFill>
                <a:latin typeface="Aptos"/>
              </a:rPr>
              <a:t>Controlar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6296" y="2788920"/>
            <a:ext cx="2167128" cy="11338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Medir avance, defectos y riesgos; aprobar cambios y ajustar el plan.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4526280"/>
            <a:ext cx="10927080" cy="1234440"/>
          </a:xfrm>
          <a:prstGeom prst="roundRect">
            <a:avLst/>
          </a:prstGeom>
          <a:solidFill>
            <a:srgbClr val="E2EEE9"/>
          </a:solidFill>
          <a:ln w="12700">
            <a:solidFill>
              <a:srgbClr val="E2E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754880"/>
            <a:ext cx="1033272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2E6958"/>
                </a:solidFill>
                <a:latin typeface="Aptos"/>
              </a:rPr>
              <a:t>Seguimiento propuesto: </a:t>
            </a:r>
            <a:r>
              <a:rPr sz="1500" b="0">
                <a:solidFill>
                  <a:srgbClr val="2B2A26"/>
                </a:solidFill>
                <a:latin typeface="Aptos"/>
              </a:rPr>
              <a:t>reunión semanal, tablero Kanban, revisión al cierre de cada iteración y métricas de avance, defectos, cobertura de pruebas y cambios pendientes.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376672"/>
            <a:ext cx="987552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0">
                <a:solidFill>
                  <a:srgbClr val="646058"/>
                </a:solidFill>
                <a:latin typeface="Aptos"/>
              </a:rPr>
              <a:t>Responsable: gestor de proyecto · Participan: equipo técnico y cliente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05  GESTIÓN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Tabla de roles aplicada a Dolce‑Vita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La asignación explícita de responsabilidades evita vacíos y duplicidad de trabajo.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828800"/>
          <a:ext cx="11045952" cy="4059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1408"/>
                <a:gridCol w="3794760"/>
                <a:gridCol w="5129784"/>
              </a:tblGrid>
              <a:tr h="67665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1">
                          <a:solidFill>
                            <a:srgbClr val="FFFFFF"/>
                          </a:solidFill>
                          <a:latin typeface="Aptos"/>
                        </a:rPr>
                        <a:t>Rol</a:t>
                      </a:r>
                    </a:p>
                  </a:txBody>
                  <a:tcPr marL="64008" marR="64008" marT="45720" marB="36576">
                    <a:solidFill>
                      <a:srgbClr val="6643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1">
                          <a:solidFill>
                            <a:srgbClr val="FFFFFF"/>
                          </a:solidFill>
                          <a:latin typeface="Aptos"/>
                        </a:rPr>
                        <a:t>Responsabilidad principal</a:t>
                      </a:r>
                    </a:p>
                  </a:txBody>
                  <a:tcPr marL="64008" marR="64008" marT="45720" marB="36576">
                    <a:solidFill>
                      <a:srgbClr val="6643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1">
                          <a:solidFill>
                            <a:srgbClr val="FFFFFF"/>
                          </a:solidFill>
                          <a:latin typeface="Aptos"/>
                        </a:rPr>
                        <a:t>Aplicación en Dolce‑Vita</a:t>
                      </a:r>
                    </a:p>
                  </a:txBody>
                  <a:tcPr marL="64008" marR="64008" marT="45720" marB="36576">
                    <a:solidFill>
                      <a:srgbClr val="664330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2B2A26"/>
                          </a:solidFill>
                          <a:latin typeface="Aptos"/>
                        </a:rPr>
                        <a:t>Analista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2B2A26"/>
                          </a:solidFill>
                          <a:latin typeface="Aptos"/>
                        </a:rPr>
                        <a:t>Captura y documenta requerimientos.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2B2A26"/>
                          </a:solidFill>
                          <a:latin typeface="Aptos"/>
                        </a:rPr>
                        <a:t>Define reglas de registro, compra, stock, alertas y boleta.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2B2A26"/>
                          </a:solidFill>
                          <a:latin typeface="Aptos"/>
                        </a:rPr>
                        <a:t>Diseñador/a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2B2A26"/>
                          </a:solidFill>
                          <a:latin typeface="Aptos"/>
                        </a:rPr>
                        <a:t>Crea la arquitectura y los diagramas UML.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2B2A26"/>
                          </a:solidFill>
                          <a:latin typeface="Aptos"/>
                        </a:rPr>
                        <a:t>Modela usuarios, productos, carro, inventario y ventas.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2B2A26"/>
                          </a:solidFill>
                          <a:latin typeface="Aptos"/>
                        </a:rPr>
                        <a:t>Programador/a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2B2A26"/>
                          </a:solidFill>
                          <a:latin typeface="Aptos"/>
                        </a:rPr>
                        <a:t>Implementa el código del sistema.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2B2A26"/>
                          </a:solidFill>
                          <a:latin typeface="Aptos"/>
                        </a:rPr>
                        <a:t>Programa los módulos de acceso, compra, stock y boleta.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2B2A26"/>
                          </a:solidFill>
                          <a:latin typeface="Aptos"/>
                        </a:rPr>
                        <a:t>Tester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2B2A26"/>
                          </a:solidFill>
                          <a:latin typeface="Aptos"/>
                        </a:rPr>
                        <a:t>Verifica que el software cumpla los requisitos.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2B2A26"/>
                          </a:solidFill>
                          <a:latin typeface="Aptos"/>
                        </a:rPr>
                        <a:t>Prueba flujos de compra, inventario, alertas y emisión de boleta.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2B2A26"/>
                          </a:solidFill>
                          <a:latin typeface="Aptos"/>
                        </a:rPr>
                        <a:t>Administrador/a de proyecto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2B2A26"/>
                          </a:solidFill>
                          <a:latin typeface="Aptos"/>
                        </a:rPr>
                        <a:t>Planifica, coordina y supervisa el proyecto.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2B2A26"/>
                          </a:solidFill>
                          <a:latin typeface="Aptos"/>
                        </a:rPr>
                        <a:t>Organiza iteraciones, recursos, plazos, riesgos e hitos.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6007608"/>
            <a:ext cx="11045952" cy="310896"/>
          </a:xfrm>
          <a:prstGeom prst="roundRect">
            <a:avLst/>
          </a:prstGeom>
          <a:solidFill>
            <a:srgbClr val="F5E4E5"/>
          </a:solidFill>
          <a:ln w="12700">
            <a:solidFill>
              <a:srgbClr val="F5E4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6062472"/>
            <a:ext cx="1060704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900" b="1">
                <a:solidFill>
                  <a:srgbClr val="C04E5C"/>
                </a:solidFill>
                <a:latin typeface="Aptos"/>
              </a:rPr>
              <a:t>Los casos de uso coordinan el trabajo: cada rol actualiza sus artefactos cuando cambia un requisito.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06  CICLO DE VIDA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Tabla de fases del Proceso Unificado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Cada iteración aplica las etapas a los casos de uso seleccionados y produce un incremento.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93192" y="1810512"/>
          <a:ext cx="11402567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448"/>
                <a:gridCol w="3749039"/>
                <a:gridCol w="2596896"/>
                <a:gridCol w="3758184"/>
              </a:tblGrid>
              <a:tr h="81930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Aptos"/>
                        </a:rPr>
                        <a:t>Fase</a:t>
                      </a:r>
                    </a:p>
                  </a:txBody>
                  <a:tcPr marL="64008" marR="64008" marT="45720" marB="36576">
                    <a:solidFill>
                      <a:srgbClr val="2E695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Aptos"/>
                        </a:rPr>
                        <a:t>Actividades principales</a:t>
                      </a:r>
                    </a:p>
                  </a:txBody>
                  <a:tcPr marL="64008" marR="64008" marT="45720" marB="36576">
                    <a:solidFill>
                      <a:srgbClr val="2E695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Aptos"/>
                        </a:rPr>
                        <a:t>Artefactos comunes</a:t>
                      </a:r>
                    </a:p>
                  </a:txBody>
                  <a:tcPr marL="64008" marR="64008" marT="45720" marB="36576">
                    <a:solidFill>
                      <a:srgbClr val="2E695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Aptos"/>
                        </a:rPr>
                        <a:t>Aplicación en Dolce‑Vita</a:t>
                      </a:r>
                    </a:p>
                  </a:txBody>
                  <a:tcPr marL="64008" marR="64008" marT="45720" marB="36576">
                    <a:solidFill>
                      <a:srgbClr val="2E6958"/>
                    </a:solidFill>
                  </a:tcPr>
                </a:tc>
              </a:tr>
              <a:tr h="81930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80" b="1">
                          <a:solidFill>
                            <a:srgbClr val="2B2A26"/>
                          </a:solidFill>
                          <a:latin typeface="Aptos"/>
                        </a:rPr>
                        <a:t>Inicio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80" b="0">
                          <a:solidFill>
                            <a:srgbClr val="2B2A26"/>
                          </a:solidFill>
                          <a:latin typeface="Aptos"/>
                        </a:rPr>
                        <a:t>Requisitos, alcance, planificación inicial y estimación de costos.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80" b="0">
                          <a:solidFill>
                            <a:srgbClr val="2B2A26"/>
                          </a:solidFill>
                          <a:latin typeface="Aptos"/>
                        </a:rPr>
                        <a:t>Casos de uso y documento de visión.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80" b="0">
                          <a:solidFill>
                            <a:srgbClr val="2B2A26"/>
                          </a:solidFill>
                          <a:latin typeface="Aptos"/>
                        </a:rPr>
                        <a:t>Priorizar acceso, compra, inventario, alertas y boleta.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</a:tr>
              <a:tr h="81930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80" b="1">
                          <a:solidFill>
                            <a:srgbClr val="2B2A26"/>
                          </a:solidFill>
                          <a:latin typeface="Aptos"/>
                        </a:rPr>
                        <a:t>Elaboración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80" b="0">
                          <a:solidFill>
                            <a:srgbClr val="2B2A26"/>
                          </a:solidFill>
                          <a:latin typeface="Aptos"/>
                        </a:rPr>
                        <a:t>Análisis y diseño, validación arquitectónica, iteraciones y riesgos.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80" b="0">
                          <a:solidFill>
                            <a:srgbClr val="2B2A26"/>
                          </a:solidFill>
                          <a:latin typeface="Aptos"/>
                        </a:rPr>
                        <a:t>Diagramas UML y prototipos.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80" b="0">
                          <a:solidFill>
                            <a:srgbClr val="2B2A26"/>
                          </a:solidFill>
                          <a:latin typeface="Aptos"/>
                        </a:rPr>
                        <a:t>Validar arquitectura de ventas, stock y usuarios.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</a:tr>
              <a:tr h="81930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80" b="1">
                          <a:solidFill>
                            <a:srgbClr val="2B2A26"/>
                          </a:solidFill>
                          <a:latin typeface="Aptos"/>
                        </a:rPr>
                        <a:t>Construcción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80" b="0">
                          <a:solidFill>
                            <a:srgbClr val="2B2A26"/>
                          </a:solidFill>
                          <a:latin typeface="Aptos"/>
                        </a:rPr>
                        <a:t>Implementación, integración, pruebas unitarias e iterativas y revisiones.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80" b="0">
                          <a:solidFill>
                            <a:srgbClr val="2B2A26"/>
                          </a:solidFill>
                          <a:latin typeface="Aptos"/>
                        </a:rPr>
                        <a:t>Código fuente y manuales técnicos.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80" b="0">
                          <a:solidFill>
                            <a:srgbClr val="2B2A26"/>
                          </a:solidFill>
                          <a:latin typeface="Aptos"/>
                        </a:rPr>
                        <a:t>Construir e integrar módulos por incremento.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</a:tr>
              <a:tr h="81930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80" b="1">
                          <a:solidFill>
                            <a:srgbClr val="2B2A26"/>
                          </a:solidFill>
                          <a:latin typeface="Aptos"/>
                        </a:rPr>
                        <a:t>Transición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80" b="0">
                          <a:solidFill>
                            <a:srgbClr val="2B2A26"/>
                          </a:solidFill>
                          <a:latin typeface="Aptos"/>
                        </a:rPr>
                        <a:t>Pruebas finales, despliegue, capacitación y estabilización.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80" b="0">
                          <a:solidFill>
                            <a:srgbClr val="2B2A26"/>
                          </a:solidFill>
                          <a:latin typeface="Aptos"/>
                        </a:rPr>
                        <a:t>Plan de despliegue y manuales de usuario.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80" b="0">
                          <a:solidFill>
                            <a:srgbClr val="2B2A26"/>
                          </a:solidFill>
                          <a:latin typeface="Aptos"/>
                        </a:rPr>
                        <a:t>Piloto, correcciones, capacitación y puesta en marcha.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9808" y="6016752"/>
            <a:ext cx="10698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C04E5C"/>
                </a:solidFill>
                <a:latin typeface="Aptos"/>
              </a:rPr>
              <a:t>Si en transición hay desviaciones, se actualizan casos de uso y arquitectura y se inicia una nueva iteración; si se acepta, se priorizan nuevos casos de uso.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07  CASOS DE USO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Requisitos organizados por actores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El modelo de casos de uso conecta necesidades, diseño, implementación y pruebas.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11680"/>
            <a:ext cx="2926080" cy="3337560"/>
          </a:xfrm>
          <a:prstGeom prst="roundRect">
            <a:avLst/>
          </a:prstGeom>
          <a:solidFill>
            <a:srgbClr val="F5E4E5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2011680"/>
            <a:ext cx="73152" cy="333756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167128"/>
            <a:ext cx="257860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C04E5C"/>
                </a:solidFill>
                <a:latin typeface="Aptos"/>
              </a:rPr>
              <a:t>Cliente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578608"/>
            <a:ext cx="2578608" cy="2642615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2B2A26"/>
                </a:solidFill>
                <a:latin typeface="Aptos"/>
              </a:rPr>
              <a:t>• Registrarse / autenticarse
• Consultar productos y stock
• Gestionar carro
• Confirmar compra
• Obtener boleta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68512" y="2011680"/>
            <a:ext cx="2926080" cy="3337560"/>
          </a:xfrm>
          <a:prstGeom prst="roundRect">
            <a:avLst/>
          </a:prstGeom>
          <a:solidFill>
            <a:srgbClr val="E2EEE9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68512" y="2011680"/>
            <a:ext cx="73152" cy="3337560"/>
          </a:xfrm>
          <a:prstGeom prst="rect">
            <a:avLst/>
          </a:prstGeom>
          <a:solidFill>
            <a:srgbClr val="2E69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0" y="2167128"/>
            <a:ext cx="257860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2E6958"/>
                </a:solidFill>
                <a:latin typeface="Aptos"/>
              </a:rPr>
              <a:t>Administrador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578608"/>
            <a:ext cx="2578608" cy="2642615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2B2A26"/>
                </a:solidFill>
                <a:latin typeface="Aptos"/>
              </a:rPr>
              <a:t>• Autenticarse
• Ingresar stock
• Actualizar productos
• Revisar alertas de stock crítico
• Consultar ventas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9080" y="1947672"/>
            <a:ext cx="4050791" cy="35387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43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2176272"/>
            <a:ext cx="306324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664330"/>
                </a:solidFill>
                <a:latin typeface="Aptos"/>
              </a:rPr>
              <a:t>SISTEMA DOLCE‑VITA</a:t>
            </a:r>
          </a:p>
        </p:txBody>
      </p:sp>
      <p:sp>
        <p:nvSpPr>
          <p:cNvPr id="18" name="Oval 17"/>
          <p:cNvSpPr/>
          <p:nvPr/>
        </p:nvSpPr>
        <p:spPr>
          <a:xfrm>
            <a:off x="4590288" y="2715768"/>
            <a:ext cx="3035808" cy="329184"/>
          </a:xfrm>
          <a:prstGeom prst="ellipse">
            <a:avLst/>
          </a:prstGeom>
          <a:solidFill>
            <a:srgbClr val="FAF7F0"/>
          </a:solidFill>
          <a:ln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0016" y="2779776"/>
            <a:ext cx="2788920" cy="1554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0">
                <a:solidFill>
                  <a:srgbClr val="2B2A26"/>
                </a:solidFill>
                <a:latin typeface="Aptos"/>
              </a:rPr>
              <a:t>Autenticar usuarios</a:t>
            </a:r>
          </a:p>
        </p:txBody>
      </p:sp>
      <p:sp>
        <p:nvSpPr>
          <p:cNvPr id="20" name="Oval 19"/>
          <p:cNvSpPr/>
          <p:nvPr/>
        </p:nvSpPr>
        <p:spPr>
          <a:xfrm>
            <a:off x="4590288" y="3191256"/>
            <a:ext cx="3035808" cy="329184"/>
          </a:xfrm>
          <a:prstGeom prst="ellipse">
            <a:avLst/>
          </a:prstGeom>
          <a:solidFill>
            <a:srgbClr val="FAF7F0"/>
          </a:solidFill>
          <a:ln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00016" y="3255264"/>
            <a:ext cx="2788920" cy="1554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2B2A26"/>
                </a:solidFill>
                <a:latin typeface="Aptos"/>
              </a:rPr>
              <a:t>Procesar compra</a:t>
            </a:r>
          </a:p>
        </p:txBody>
      </p:sp>
      <p:sp>
        <p:nvSpPr>
          <p:cNvPr id="22" name="Oval 21"/>
          <p:cNvSpPr/>
          <p:nvPr/>
        </p:nvSpPr>
        <p:spPr>
          <a:xfrm>
            <a:off x="4590288" y="3666744"/>
            <a:ext cx="3035808" cy="329184"/>
          </a:xfrm>
          <a:prstGeom prst="ellipse">
            <a:avLst/>
          </a:prstGeom>
          <a:solidFill>
            <a:srgbClr val="FAF7F0"/>
          </a:solidFill>
          <a:ln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0016" y="3730752"/>
            <a:ext cx="2788920" cy="1554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2B2A26"/>
                </a:solidFill>
                <a:latin typeface="Aptos"/>
              </a:rPr>
              <a:t>Controlar inventario</a:t>
            </a:r>
          </a:p>
        </p:txBody>
      </p:sp>
      <p:sp>
        <p:nvSpPr>
          <p:cNvPr id="24" name="Oval 23"/>
          <p:cNvSpPr/>
          <p:nvPr/>
        </p:nvSpPr>
        <p:spPr>
          <a:xfrm>
            <a:off x="4590288" y="4142232"/>
            <a:ext cx="3035808" cy="329184"/>
          </a:xfrm>
          <a:prstGeom prst="ellipse">
            <a:avLst/>
          </a:prstGeom>
          <a:solidFill>
            <a:srgbClr val="FAF7F0"/>
          </a:solidFill>
          <a:ln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0016" y="4206240"/>
            <a:ext cx="2788920" cy="1554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0">
                <a:solidFill>
                  <a:srgbClr val="2B2A26"/>
                </a:solidFill>
                <a:latin typeface="Aptos"/>
              </a:rPr>
              <a:t>Emitir boleta</a:t>
            </a:r>
          </a:p>
        </p:txBody>
      </p:sp>
      <p:sp>
        <p:nvSpPr>
          <p:cNvPr id="26" name="Oval 25"/>
          <p:cNvSpPr/>
          <p:nvPr/>
        </p:nvSpPr>
        <p:spPr>
          <a:xfrm>
            <a:off x="4590288" y="4617720"/>
            <a:ext cx="3035808" cy="329184"/>
          </a:xfrm>
          <a:prstGeom prst="ellipse">
            <a:avLst/>
          </a:prstGeom>
          <a:solidFill>
            <a:srgbClr val="FAF7F0"/>
          </a:solidFill>
          <a:ln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0016" y="4681728"/>
            <a:ext cx="2788920" cy="1554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0">
                <a:solidFill>
                  <a:srgbClr val="2B2A26"/>
                </a:solidFill>
                <a:latin typeface="Aptos"/>
              </a:rPr>
              <a:t>Generar alerta crítica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520440" y="3685032"/>
            <a:ext cx="548640" cy="0"/>
          </a:xfrm>
          <a:prstGeom prst="line">
            <a:avLst/>
          </a:prstGeom>
          <a:ln w="25400">
            <a:solidFill>
              <a:srgbClr val="C04E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119872" y="3685032"/>
            <a:ext cx="548640" cy="0"/>
          </a:xfrm>
          <a:prstGeom prst="line">
            <a:avLst/>
          </a:prstGeom>
          <a:ln w="25400">
            <a:solidFill>
              <a:srgbClr val="2E69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664208" y="5760720"/>
            <a:ext cx="8887968" cy="438912"/>
          </a:xfrm>
          <a:prstGeom prst="roundRect">
            <a:avLst/>
          </a:prstGeom>
          <a:solidFill>
            <a:srgbClr val="F7EDD5"/>
          </a:solidFill>
          <a:ln w="12700">
            <a:solidFill>
              <a:srgbClr val="F7E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74519" y="5870448"/>
            <a:ext cx="8485632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664330"/>
                </a:solidFill>
                <a:latin typeface="Aptos"/>
              </a:rPr>
              <a:t>Trazabilidad: caso de uso → escenario → diagrama → componente → prueba → aceptación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08 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Plan incremental propuesto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La prioridad combina valor para el negocio, dependencias y riesgo.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874519"/>
            <a:ext cx="10927080" cy="8595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39112"/>
            <a:ext cx="10515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C04E5C"/>
                </a:solidFill>
                <a:latin typeface="Aptos"/>
              </a:rPr>
              <a:t>Iteración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56816" y="2039112"/>
            <a:ext cx="141732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2B2A26"/>
                </a:solidFill>
                <a:latin typeface="Aptos"/>
              </a:rPr>
              <a:t>Acceso y 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020824"/>
            <a:ext cx="5276088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Registro, autenticación, roles y catálogo inicial.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2039112"/>
            <a:ext cx="2103120" cy="448056"/>
          </a:xfrm>
          <a:prstGeom prst="roundRect">
            <a:avLst/>
          </a:prstGeom>
          <a:solidFill>
            <a:srgbClr val="F5E4E5"/>
          </a:solidFill>
          <a:ln w="12700">
            <a:solidFill>
              <a:srgbClr val="F5E4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25712" y="2148839"/>
            <a:ext cx="1847088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C04E5C"/>
                </a:solidFill>
                <a:latin typeface="Aptos"/>
              </a:rPr>
              <a:t>Riesgo: seguridad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2926079"/>
            <a:ext cx="10927080" cy="8595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090672"/>
            <a:ext cx="10515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2E6958"/>
                </a:solidFill>
                <a:latin typeface="Aptos"/>
              </a:rPr>
              <a:t>Iteración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56816" y="3090672"/>
            <a:ext cx="141732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2B2A26"/>
                </a:solidFill>
                <a:latin typeface="Aptos"/>
              </a:rPr>
              <a:t>Compra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432" y="3072384"/>
            <a:ext cx="5276088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Consulta de stock, carro, confirmación y boleta.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97696" y="3090672"/>
            <a:ext cx="2103120" cy="448056"/>
          </a:xfrm>
          <a:prstGeom prst="roundRect">
            <a:avLst/>
          </a:prstGeom>
          <a:solidFill>
            <a:srgbClr val="E2EEE9"/>
          </a:solidFill>
          <a:ln w="12700">
            <a:solidFill>
              <a:srgbClr val="E2E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5712" y="3200399"/>
            <a:ext cx="1847088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2E6958"/>
                </a:solidFill>
                <a:latin typeface="Aptos"/>
              </a:rPr>
              <a:t>Riesgo: consistencia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3977639"/>
            <a:ext cx="10927080" cy="8595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142231"/>
            <a:ext cx="10515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DAA64E"/>
                </a:solidFill>
                <a:latin typeface="Aptos"/>
              </a:rPr>
              <a:t>Iteración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56816" y="4142231"/>
            <a:ext cx="141732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2B2A26"/>
                </a:solidFill>
                <a:latin typeface="Aptos"/>
              </a:rPr>
              <a:t>Inventario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123944"/>
            <a:ext cx="5276088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Ingreso de stock, actualización y alertas críticas.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97696" y="4142231"/>
            <a:ext cx="2103120" cy="448056"/>
          </a:xfrm>
          <a:prstGeom prst="roundRect">
            <a:avLst/>
          </a:prstGeom>
          <a:solidFill>
            <a:srgbClr val="F7EDD5"/>
          </a:solidFill>
          <a:ln w="12700">
            <a:solidFill>
              <a:srgbClr val="F7E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25712" y="4251959"/>
            <a:ext cx="1847088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DAA64E"/>
                </a:solidFill>
                <a:latin typeface="Aptos"/>
              </a:rPr>
              <a:t>Riesgo: concurrencia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" y="5029200"/>
            <a:ext cx="10927080" cy="8595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193792"/>
            <a:ext cx="10515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664330"/>
                </a:solidFill>
                <a:latin typeface="Aptos"/>
              </a:rPr>
              <a:t>Iteración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56816" y="5193792"/>
            <a:ext cx="141732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2B2A26"/>
                </a:solidFill>
                <a:latin typeface="Aptos"/>
              </a:rPr>
              <a:t>Entrega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6432" y="5175504"/>
            <a:ext cx="5276088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Pruebas integrales, piloto, capacitación y despliegue.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97696" y="5193792"/>
            <a:ext cx="2103120" cy="448056"/>
          </a:xfrm>
          <a:prstGeom prst="roundRect">
            <a:avLst/>
          </a:prstGeom>
          <a:solidFill>
            <a:srgbClr val="EEE7E2"/>
          </a:solidFill>
          <a:ln w="12700">
            <a:solidFill>
              <a:srgbClr val="EEE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25712" y="5303520"/>
            <a:ext cx="1847088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664330"/>
                </a:solidFill>
                <a:latin typeface="Aptos"/>
              </a:rPr>
              <a:t>Riesgo: adopción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126480"/>
            <a:ext cx="21031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100" b="1">
                <a:solidFill>
                  <a:srgbClr val="C04E5C"/>
                </a:solidFill>
                <a:latin typeface="Aptos"/>
              </a:rPr>
              <a:t>Resultado de cada iteración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79776" y="6062472"/>
            <a:ext cx="8412480" cy="28346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1">
                <a:solidFill>
                  <a:srgbClr val="2B2A26"/>
                </a:solidFill>
                <a:latin typeface="Aptos"/>
              </a:rPr>
              <a:t>Incremento probado + documentación actualizada + retroalimentación + nueva línea base.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09  CICLO DE VIDA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Relación con el SDLC clásico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El PU conserva las actividades del ciclo de vida, pero cambia su organización.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874519"/>
          <a:ext cx="10991088" cy="3959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71800"/>
                <a:gridCol w="6190488"/>
              </a:tblGrid>
              <a:tr h="494919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80" b="1">
                          <a:solidFill>
                            <a:srgbClr val="FFFFFF"/>
                          </a:solidFill>
                          <a:latin typeface="Aptos"/>
                        </a:rPr>
                        <a:t>SDLC</a:t>
                      </a:r>
                    </a:p>
                  </a:txBody>
                  <a:tcPr marL="64008" marR="64008" marT="45720" marB="36576">
                    <a:solidFill>
                      <a:srgbClr val="2E695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80" b="1">
                          <a:solidFill>
                            <a:srgbClr val="FFFFFF"/>
                          </a:solidFill>
                          <a:latin typeface="Aptos"/>
                        </a:rPr>
                        <a:t>Aplicación en el PU</a:t>
                      </a:r>
                    </a:p>
                  </a:txBody>
                  <a:tcPr marL="64008" marR="64008" marT="45720" marB="36576">
                    <a:solidFill>
                      <a:srgbClr val="2E695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80" b="1">
                          <a:solidFill>
                            <a:srgbClr val="FFFFFF"/>
                          </a:solidFill>
                          <a:latin typeface="Aptos"/>
                        </a:rPr>
                        <a:t>Ejemplo Dolce‑Vita</a:t>
                      </a:r>
                    </a:p>
                  </a:txBody>
                  <a:tcPr marL="64008" marR="64008" marT="45720" marB="36576">
                    <a:solidFill>
                      <a:srgbClr val="2E6958"/>
                    </a:solidFill>
                  </a:tcPr>
                </a:tc>
              </a:tr>
              <a:tr h="494919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1">
                          <a:solidFill>
                            <a:srgbClr val="2B2A26"/>
                          </a:solidFill>
                          <a:latin typeface="Aptos"/>
                        </a:rPr>
                        <a:t>Planificación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Inicio + gestión del proyecto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Visión, alcance, riesgos y plan de iteraciones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</a:tr>
              <a:tr h="494919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1">
                          <a:solidFill>
                            <a:srgbClr val="2B2A26"/>
                          </a:solidFill>
                          <a:latin typeface="Aptos"/>
                        </a:rPr>
                        <a:t>Análisis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Requisitos en cada iteración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Actores, reglas de stock y escenarios de compra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</a:tr>
              <a:tr h="494919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1">
                          <a:solidFill>
                            <a:srgbClr val="2B2A26"/>
                          </a:solidFill>
                          <a:latin typeface="Aptos"/>
                        </a:rPr>
                        <a:t>Diseño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Elaboración y refinamiento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Arquitectura, clases, secuencias e interfaces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</a:tr>
              <a:tr h="494919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1">
                          <a:solidFill>
                            <a:srgbClr val="2B2A26"/>
                          </a:solidFill>
                          <a:latin typeface="Aptos"/>
                        </a:rPr>
                        <a:t>Construcción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Incrementos integrados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Módulos de acceso, carro, inventario y boleta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</a:tr>
              <a:tr h="494919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1">
                          <a:solidFill>
                            <a:srgbClr val="2B2A26"/>
                          </a:solidFill>
                          <a:latin typeface="Aptos"/>
                        </a:rPr>
                        <a:t>Pruebas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Continuas + transición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Unitarias, integración, sistema y aceptación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</a:tr>
              <a:tr h="494919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1">
                          <a:solidFill>
                            <a:srgbClr val="2B2A26"/>
                          </a:solidFill>
                          <a:latin typeface="Aptos"/>
                        </a:rPr>
                        <a:t>Despliegue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Transición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Piloto, capacitación, versión y retroalimentación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</a:tr>
              <a:tr h="494919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1">
                          <a:solidFill>
                            <a:srgbClr val="2B2A26"/>
                          </a:solidFill>
                          <a:latin typeface="Aptos"/>
                        </a:rPr>
                        <a:t>Mantenimiento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Nuevas iteraciones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30" b="0">
                          <a:solidFill>
                            <a:srgbClr val="2B2A26"/>
                          </a:solidFill>
                          <a:latin typeface="Aptos"/>
                        </a:rPr>
                        <a:t>Cambios priorizados y trazables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998464"/>
            <a:ext cx="10991088" cy="329184"/>
          </a:xfrm>
          <a:prstGeom prst="roundRect">
            <a:avLst/>
          </a:prstGeom>
          <a:solidFill>
            <a:srgbClr val="F5E4E5"/>
          </a:solidFill>
          <a:ln w="12700">
            <a:solidFill>
              <a:srgbClr val="F5E4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6053328"/>
            <a:ext cx="10588752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000" b="1">
                <a:solidFill>
                  <a:srgbClr val="C04E5C"/>
                </a:solidFill>
                <a:latin typeface="Aptos"/>
              </a:rPr>
              <a:t>Innovación frente al enfoque clásico: no se espera al final; análisis, diseño, código y prueba se revisan en ciclos con retroalimentación temprana.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10  ARTEFACTOS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Artefactos que permiten operar y gestionar el SDLC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Cada artefacto tiene propósito, responsable, versión y relación con casos de uso.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606040" cy="3246120"/>
          </a:xfrm>
          <a:prstGeom prst="roundRect">
            <a:avLst/>
          </a:prstGeom>
          <a:solidFill>
            <a:srgbClr val="F5E4E5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938528"/>
            <a:ext cx="73152" cy="32461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093976"/>
            <a:ext cx="225856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C04E5C"/>
                </a:solidFill>
                <a:latin typeface="Aptos"/>
              </a:rPr>
              <a:t>Requisitos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505456"/>
            <a:ext cx="2258568" cy="255117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Visión y alcance
Modelo de casos de uso
Especificaciones suplementarias
Glosario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1938528"/>
            <a:ext cx="2606040" cy="3246120"/>
          </a:xfrm>
          <a:prstGeom prst="roundRect">
            <a:avLst/>
          </a:prstGeom>
          <a:solidFill>
            <a:srgbClr val="E2EEE9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8144" y="1938528"/>
            <a:ext cx="73152" cy="3246120"/>
          </a:xfrm>
          <a:prstGeom prst="rect">
            <a:avLst/>
          </a:prstGeom>
          <a:solidFill>
            <a:srgbClr val="2E69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9312" y="2093976"/>
            <a:ext cx="225856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2E6958"/>
                </a:solidFill>
                <a:latin typeface="Aptos"/>
              </a:rPr>
              <a:t>Análisis y diseño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2505456"/>
            <a:ext cx="2258568" cy="255117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Modelo de dominio
Diagramas UML
Documento de arquitectura
Prototipos de interfaz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938528"/>
            <a:ext cx="2606040" cy="3246120"/>
          </a:xfrm>
          <a:prstGeom prst="roundRect">
            <a:avLst/>
          </a:prstGeom>
          <a:solidFill>
            <a:srgbClr val="F7EDD5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938528"/>
            <a:ext cx="73152" cy="3246120"/>
          </a:xfrm>
          <a:prstGeom prst="rect">
            <a:avLst/>
          </a:prstGeom>
          <a:solidFill>
            <a:srgbClr val="DAA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2093976"/>
            <a:ext cx="225856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DAA64E"/>
                </a:solidFill>
                <a:latin typeface="Aptos"/>
              </a:rPr>
              <a:t>Construcción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505456"/>
            <a:ext cx="2258568" cy="255117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Código fuente
Estándares de código
Build e integración continua
Paquetes versionados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0576" y="1938528"/>
            <a:ext cx="2606040" cy="3246120"/>
          </a:xfrm>
          <a:prstGeom prst="roundRect">
            <a:avLst/>
          </a:prstGeom>
          <a:solidFill>
            <a:srgbClr val="EEE7E2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0576" y="1938528"/>
            <a:ext cx="73152" cy="3246120"/>
          </a:xfrm>
          <a:prstGeom prst="rect">
            <a:avLst/>
          </a:prstGeom>
          <a:solidFill>
            <a:srgbClr val="664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1744" y="2093976"/>
            <a:ext cx="225856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664330"/>
                </a:solidFill>
                <a:latin typeface="Aptos"/>
              </a:rPr>
              <a:t>Pruebas y entrega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81744" y="2505456"/>
            <a:ext cx="2258568" cy="255117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Plan y casos de prueba
Registro de defectos
Manual de usuario
Plan de despliegue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40680"/>
            <a:ext cx="109728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14416"/>
            <a:ext cx="10497312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664330"/>
                </a:solidFill>
                <a:latin typeface="Aptos"/>
              </a:rPr>
              <a:t>Artefactos transversales: </a:t>
            </a:r>
            <a:r>
              <a:rPr sz="1300" b="0">
                <a:solidFill>
                  <a:srgbClr val="2B2A26"/>
                </a:solidFill>
                <a:latin typeface="Aptos"/>
              </a:rPr>
              <a:t>plan de iteración, lista de riesgos, tablero de seguimiento, solicitud de cambio, historial de versiones, auditoría y línea base.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11  SOPORTE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Procesos de soporte que mantienen el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No entregan una función visible por sí solos, pero sostienen la calidad de cada incremento.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920240"/>
            <a:ext cx="3401568" cy="3611880"/>
          </a:xfrm>
          <a:prstGeom prst="roundRect">
            <a:avLst/>
          </a:prstGeom>
          <a:solidFill>
            <a:srgbClr val="F5E4E5"/>
          </a:solidFill>
          <a:ln w="12700">
            <a:solidFill>
              <a:srgbClr val="F5E4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221992"/>
            <a:ext cx="2926080" cy="53035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C04E5C"/>
                </a:solidFill>
                <a:latin typeface="Aptos"/>
              </a:rPr>
              <a:t>Configuración y cambios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035808"/>
            <a:ext cx="2907792" cy="12344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2B2A26"/>
                </a:solidFill>
                <a:latin typeface="Aptos"/>
              </a:rPr>
              <a:t>Identifica artefactos, controla versiones, audita líneas base y aplica el flujo: solicitud → impacto → aprobación → implementación.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572000"/>
            <a:ext cx="11887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Herramientas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4855464"/>
            <a:ext cx="288036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64330"/>
                </a:solidFill>
                <a:latin typeface="Aptos"/>
              </a:rPr>
              <a:t>Git/GitHub · registro de cambios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1920240"/>
            <a:ext cx="3401568" cy="3611880"/>
          </a:xfrm>
          <a:prstGeom prst="roundRect">
            <a:avLst/>
          </a:prstGeom>
          <a:solidFill>
            <a:srgbClr val="E2EEE9"/>
          </a:solidFill>
          <a:ln w="12700">
            <a:solidFill>
              <a:srgbClr val="E2E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2221992"/>
            <a:ext cx="2926080" cy="53035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2E6958"/>
                </a:solidFill>
                <a:latin typeface="Aptos"/>
              </a:rPr>
              <a:t>Gestión del proyecto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3035808"/>
            <a:ext cx="2907792" cy="12344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2B2A26"/>
                </a:solidFill>
                <a:latin typeface="Aptos"/>
              </a:rPr>
              <a:t>Planifica fases e iteraciones, asigna recursos, controla avance, riesgos, costos y comunicación.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4572000"/>
            <a:ext cx="11887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2E6958"/>
                </a:solidFill>
                <a:latin typeface="Aptos"/>
              </a:rPr>
              <a:t>Herramientas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4855464"/>
            <a:ext cx="288036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64330"/>
                </a:solidFill>
                <a:latin typeface="Aptos"/>
              </a:rPr>
              <a:t>Jira/Trello · Kanban · métricas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28431" y="1920240"/>
            <a:ext cx="3401568" cy="3611880"/>
          </a:xfrm>
          <a:prstGeom prst="roundRect">
            <a:avLst/>
          </a:prstGeom>
          <a:solidFill>
            <a:srgbClr val="F7EDD5"/>
          </a:solidFill>
          <a:ln w="12700">
            <a:solidFill>
              <a:srgbClr val="F7E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1" y="2221992"/>
            <a:ext cx="2926080" cy="53035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DAA64E"/>
                </a:solidFill>
                <a:latin typeface="Aptos"/>
              </a:rPr>
              <a:t>Ambiente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035808"/>
            <a:ext cx="2907792" cy="12344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2B2A26"/>
                </a:solidFill>
                <a:latin typeface="Aptos"/>
              </a:rPr>
              <a:t>Provee estándares e infraestructura para modelar, integrar, probar y desplegar de forma reproducible.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4572000"/>
            <a:ext cx="11887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DAA64E"/>
                </a:solidFill>
                <a:latin typeface="Aptos"/>
              </a:rPr>
              <a:t>Herramientas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855464"/>
            <a:ext cx="288036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64330"/>
                </a:solidFill>
                <a:latin typeface="Aptos"/>
              </a:rPr>
              <a:t>CASE · CI/CD · Docker · staging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88736"/>
            <a:ext cx="10652760" cy="32918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300" b="1">
                <a:solidFill>
                  <a:srgbClr val="2B2A26"/>
                </a:solidFill>
                <a:latin typeface="Aptos"/>
              </a:rPr>
              <a:t>Integración: la configuración aporta orden; la gestión, dirección; el ambiente, capacidad de ejecución.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12  COMPARACIÓN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Comparación de modelos de desarrollo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La elección depende de estabilidad, riesgo, regulación y necesidad de retroalimentación.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84048" y="1828800"/>
          <a:ext cx="11429999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874519"/>
                <a:gridCol w="2432304"/>
                <a:gridCol w="1938528"/>
                <a:gridCol w="3703320"/>
              </a:tblGrid>
              <a:tr h="58521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90" b="1">
                          <a:solidFill>
                            <a:srgbClr val="FFFFFF"/>
                          </a:solidFill>
                          <a:latin typeface="Aptos"/>
                        </a:rPr>
                        <a:t>Criterio</a:t>
                      </a:r>
                    </a:p>
                  </a:txBody>
                  <a:tcPr marL="64008" marR="64008" marT="45720" marB="36576">
                    <a:solidFill>
                      <a:srgbClr val="6643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90" b="1">
                          <a:solidFill>
                            <a:srgbClr val="FFFFFF"/>
                          </a:solidFill>
                          <a:latin typeface="Aptos"/>
                        </a:rPr>
                        <a:t>Cascada</a:t>
                      </a:r>
                    </a:p>
                  </a:txBody>
                  <a:tcPr marL="64008" marR="64008" marT="45720" marB="36576">
                    <a:solidFill>
                      <a:srgbClr val="6643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90" b="1">
                          <a:solidFill>
                            <a:srgbClr val="FFFFFF"/>
                          </a:solidFill>
                          <a:latin typeface="Aptos"/>
                        </a:rPr>
                        <a:t>Iterativo/incremental</a:t>
                      </a:r>
                    </a:p>
                  </a:txBody>
                  <a:tcPr marL="64008" marR="64008" marT="45720" marB="36576">
                    <a:solidFill>
                      <a:srgbClr val="6643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90" b="1">
                          <a:solidFill>
                            <a:srgbClr val="FFFFFF"/>
                          </a:solidFill>
                          <a:latin typeface="Aptos"/>
                        </a:rPr>
                        <a:t>Ágil</a:t>
                      </a:r>
                    </a:p>
                  </a:txBody>
                  <a:tcPr marL="64008" marR="64008" marT="45720" marB="36576">
                    <a:solidFill>
                      <a:srgbClr val="6643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90" b="1">
                          <a:solidFill>
                            <a:srgbClr val="FFFFFF"/>
                          </a:solidFill>
                          <a:latin typeface="Aptos"/>
                        </a:rPr>
                        <a:t>Proceso Unificado</a:t>
                      </a:r>
                    </a:p>
                  </a:txBody>
                  <a:tcPr marL="64008" marR="64008" marT="45720" marB="36576">
                    <a:solidFill>
                      <a:srgbClr val="66433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1">
                          <a:solidFill>
                            <a:srgbClr val="2B2A26"/>
                          </a:solidFill>
                          <a:latin typeface="Aptos"/>
                        </a:rPr>
                        <a:t>Flujo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Secuencial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Ciclos + incrementos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Iteraciones cortas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Iterativo por casos de uso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1">
                          <a:solidFill>
                            <a:srgbClr val="2B2A26"/>
                          </a:solidFill>
                          <a:latin typeface="Aptos"/>
                        </a:rPr>
                        <a:t>Cambio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Costoso y tardío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Se incorpora por ciclos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Esperado y frecuente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Controlado y trazable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1">
                          <a:solidFill>
                            <a:srgbClr val="2B2A26"/>
                          </a:solidFill>
                          <a:latin typeface="Aptos"/>
                        </a:rPr>
                        <a:t>Arquitectura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Diseño previo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Evoluciona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Emergente/intencional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Central y temprana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1">
                          <a:solidFill>
                            <a:srgbClr val="2B2A26"/>
                          </a:solidFill>
                          <a:latin typeface="Aptos"/>
                        </a:rPr>
                        <a:t>Documentación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Amplia por fase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Según incremento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La necesaria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Artefactos versionados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1">
                          <a:solidFill>
                            <a:srgbClr val="2B2A26"/>
                          </a:solidFill>
                          <a:latin typeface="Aptos"/>
                        </a:rPr>
                        <a:t>Entrega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Principalmente final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Parcial y progresiva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Frecuente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Incrementos ejecutables</a:t>
                      </a:r>
                    </a:p>
                  </a:txBody>
                  <a:tcPr marL="64008" marR="64008" marT="45720" marB="36576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1">
                          <a:solidFill>
                            <a:srgbClr val="2B2A26"/>
                          </a:solidFill>
                          <a:latin typeface="Aptos"/>
                        </a:rPr>
                        <a:t>Aplicación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Requisitos estables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Valor por partes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Alta incertidumbre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40" b="0">
                          <a:solidFill>
                            <a:srgbClr val="2B2A26"/>
                          </a:solidFill>
                          <a:latin typeface="Aptos"/>
                        </a:rPr>
                        <a:t>Complejidad y trazabilidad</a:t>
                      </a:r>
                    </a:p>
                  </a:txBody>
                  <a:tcPr marL="64008" marR="64008" marT="45720" marB="36576">
                    <a:solidFill>
                      <a:srgbClr val="F4F1E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51560" y="6099048"/>
            <a:ext cx="1014984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C04E5C"/>
                </a:solidFill>
                <a:latin typeface="Aptos"/>
              </a:rPr>
              <a:t>Para Dolce‑Vita, el PU equilibra adaptación con disciplina documental y arquitectónica.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13  EVALUACIÓN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Ventajas y desventajas del Proceso Unificado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El beneficio depende de adaptar el nivel de formalidad al tamaño del proyecto.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920240"/>
            <a:ext cx="5285232" cy="4069080"/>
          </a:xfrm>
          <a:prstGeom prst="roundRect">
            <a:avLst/>
          </a:prstGeom>
          <a:solidFill>
            <a:srgbClr val="E2EEE9"/>
          </a:solidFill>
          <a:ln w="12700">
            <a:solidFill>
              <a:srgbClr val="E2E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18288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000" b="1">
                <a:solidFill>
                  <a:srgbClr val="2E6958"/>
                </a:solidFill>
                <a:latin typeface="Aptos"/>
              </a:rPr>
              <a:t>Ventajas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07208"/>
            <a:ext cx="4617720" cy="2670048"/>
          </a:xfrm>
          <a:prstGeom prst="rect">
            <a:avLst/>
          </a:prstGeom>
          <a:noFill/>
        </p:spPr>
        <p:txBody>
          <a:bodyPr wrap="square" lIns="45720" rIns="27432" tIns="27432" bIns="27432">
            <a:spAutoFit/>
          </a:bodyPr>
          <a:lstStyle/>
          <a:p>
            <a:pPr>
              <a:spcAft>
                <a:spcPts val="600"/>
              </a:spcAft>
            </a:pPr>
            <a:r>
              <a:t>Entrega: incrementos reducen el riesgo de descubrir problemas al final.</a:t>
            </a:r>
          </a:p>
          <a:p>
            <a:pPr>
              <a:spcAft>
                <a:spcPts val="600"/>
              </a:spcAft>
            </a:pPr>
            <a:r>
              <a:t>Cambio: retroalimentación se incorpora mediante nuevas iteraciones.</a:t>
            </a:r>
          </a:p>
          <a:p>
            <a:pPr>
              <a:spcAft>
                <a:spcPts val="600"/>
              </a:spcAft>
            </a:pPr>
            <a:r>
              <a:t>Calidad: trazabilidad y pruebas continuas protegen el producto.</a:t>
            </a:r>
          </a:p>
          <a:p>
            <a:pPr>
              <a:spcAft>
                <a:spcPts val="600"/>
              </a:spcAft>
            </a:pPr>
            <a:r>
              <a:t>Riesgo: arquitectura y decisiones críticas se validan temprano.</a:t>
            </a:r>
          </a:p>
          <a:p>
            <a:pPr>
              <a:spcAft>
                <a:spcPts val="600"/>
              </a:spcAft>
            </a:pPr>
            <a:r>
              <a:t>Comunicación: casos de uso crean lenguaje común con el cliente.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920240"/>
            <a:ext cx="5285232" cy="4069080"/>
          </a:xfrm>
          <a:prstGeom prst="roundRect">
            <a:avLst/>
          </a:prstGeom>
          <a:solidFill>
            <a:srgbClr val="F5E4E5"/>
          </a:solidFill>
          <a:ln w="12700">
            <a:solidFill>
              <a:srgbClr val="F5E4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6248" y="2212848"/>
            <a:ext cx="21031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000" b="1">
                <a:solidFill>
                  <a:srgbClr val="C04E5C"/>
                </a:solidFill>
                <a:latin typeface="Aptos"/>
              </a:rPr>
              <a:t>Desventajas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6248" y="2807208"/>
            <a:ext cx="4617720" cy="2670048"/>
          </a:xfrm>
          <a:prstGeom prst="rect">
            <a:avLst/>
          </a:prstGeom>
          <a:noFill/>
        </p:spPr>
        <p:txBody>
          <a:bodyPr wrap="square" lIns="45720" rIns="27432" tIns="27432" bIns="27432">
            <a:spAutoFit/>
          </a:bodyPr>
          <a:lstStyle/>
          <a:p>
            <a:pPr>
              <a:spcAft>
                <a:spcPts val="600"/>
              </a:spcAft>
            </a:pPr>
            <a:r>
              <a:t>Tiempo: modelar y mantener artefactos exige esfuerzo sostenido.</a:t>
            </a:r>
          </a:p>
          <a:p>
            <a:pPr>
              <a:spcAft>
                <a:spcPts val="600"/>
              </a:spcAft>
            </a:pPr>
            <a:r>
              <a:t>Complejidad: muchos roles y prácticas pueden sobredimensionar el proyecto.</a:t>
            </a:r>
          </a:p>
          <a:p>
            <a:pPr>
              <a:spcAft>
                <a:spcPts val="600"/>
              </a:spcAft>
            </a:pPr>
            <a:r>
              <a:t>Disciplina: documentación desactualizada rompe la trazabilidad.</a:t>
            </a:r>
          </a:p>
          <a:p>
            <a:pPr>
              <a:spcAft>
                <a:spcPts val="600"/>
              </a:spcAft>
            </a:pPr>
            <a:r>
              <a:t>Especialización: requiere experiencia en UML, arquitectura y gestión.</a:t>
            </a:r>
          </a:p>
          <a:p>
            <a:pPr>
              <a:spcAft>
                <a:spcPts val="600"/>
              </a:spcAft>
            </a:pPr>
            <a:r>
              <a:t>Adaptación: si se aplica rígidamente, reduce velocidad y colaboración.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6144768"/>
            <a:ext cx="10680192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664330"/>
                </a:solidFill>
                <a:latin typeface="Aptos"/>
              </a:rPr>
              <a:t>Mitigación: seleccionar solo artefactos útiles, automatizar controles y revisar su vigencia en cada iteración.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14  CALIDAD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La desviación no se corrige solo en el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Un cambio real debe conservar la coherencia entre requisito, arquitectura, implementación y prueba.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75104"/>
            <a:ext cx="2505456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176272"/>
            <a:ext cx="3200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C04E5C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157984"/>
            <a:ext cx="164592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C04E5C"/>
                </a:solidFill>
                <a:latin typeface="Aptos"/>
              </a:rPr>
              <a:t>Caso de uso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834640"/>
            <a:ext cx="210312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Ajustar escenario y criterio</a:t>
            </a:r>
          </a:p>
        </p:txBody>
      </p:sp>
      <p:sp>
        <p:nvSpPr>
          <p:cNvPr id="12" name="Chevron 11"/>
          <p:cNvSpPr/>
          <p:nvPr/>
        </p:nvSpPr>
        <p:spPr>
          <a:xfrm>
            <a:off x="3191256" y="2633472"/>
            <a:ext cx="292608" cy="457200"/>
          </a:xfrm>
          <a:prstGeom prst="chevron">
            <a:avLst/>
          </a:prstGeom>
          <a:solidFill>
            <a:srgbClr val="DCD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56432" y="1975104"/>
            <a:ext cx="2505456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9312" y="2176272"/>
            <a:ext cx="3200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2E6958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8224" y="2157984"/>
            <a:ext cx="164592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2E6958"/>
                </a:solidFill>
                <a:latin typeface="Aptos"/>
              </a:rPr>
              <a:t>Arquitectura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9312" y="2834640"/>
            <a:ext cx="210312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Revisar modelos y decisiones</a:t>
            </a:r>
          </a:p>
        </p:txBody>
      </p:sp>
      <p:sp>
        <p:nvSpPr>
          <p:cNvPr id="17" name="Chevron 16"/>
          <p:cNvSpPr/>
          <p:nvPr/>
        </p:nvSpPr>
        <p:spPr>
          <a:xfrm>
            <a:off x="6007608" y="2633472"/>
            <a:ext cx="292608" cy="457200"/>
          </a:xfrm>
          <a:prstGeom prst="chevron">
            <a:avLst/>
          </a:prstGeom>
          <a:solidFill>
            <a:srgbClr val="DCD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72784" y="1975104"/>
            <a:ext cx="2505456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2176272"/>
            <a:ext cx="3200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DAA64E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4576" y="2157984"/>
            <a:ext cx="164592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DAA64E"/>
                </a:solidFill>
                <a:latin typeface="Aptos"/>
              </a:rPr>
              <a:t>Código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2834640"/>
            <a:ext cx="210312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Implementar el cambio aprobado</a:t>
            </a:r>
          </a:p>
        </p:txBody>
      </p:sp>
      <p:sp>
        <p:nvSpPr>
          <p:cNvPr id="22" name="Chevron 21"/>
          <p:cNvSpPr/>
          <p:nvPr/>
        </p:nvSpPr>
        <p:spPr>
          <a:xfrm>
            <a:off x="8823960" y="2633472"/>
            <a:ext cx="292608" cy="457200"/>
          </a:xfrm>
          <a:prstGeom prst="chevron">
            <a:avLst/>
          </a:prstGeom>
          <a:solidFill>
            <a:srgbClr val="DCD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89136" y="1975104"/>
            <a:ext cx="2505456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72015" y="2176272"/>
            <a:ext cx="32004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664330"/>
                </a:solidFill>
                <a:latin typeface="Apto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928" y="2157984"/>
            <a:ext cx="164592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600" b="1">
                <a:solidFill>
                  <a:srgbClr val="664330"/>
                </a:solidFill>
                <a:latin typeface="Aptos"/>
              </a:rPr>
              <a:t>Prueba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2015" y="2834640"/>
            <a:ext cx="210312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2B2A26"/>
                </a:solidFill>
                <a:latin typeface="Aptos"/>
              </a:rPr>
              <a:t>Verificar trazabilidad y aceptación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242816"/>
            <a:ext cx="5285232" cy="1408176"/>
          </a:xfrm>
          <a:prstGeom prst="roundRect">
            <a:avLst/>
          </a:prstGeom>
          <a:solidFill>
            <a:srgbClr val="F5E4E5"/>
          </a:solidFill>
          <a:ln w="12700">
            <a:solidFill>
              <a:srgbClr val="F5E4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480560"/>
            <a:ext cx="201168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C04E5C"/>
                </a:solidFill>
                <a:latin typeface="Aptos"/>
              </a:rPr>
              <a:t>Si hay desviaciones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047488"/>
            <a:ext cx="4663440" cy="40233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2B2A26"/>
                </a:solidFill>
                <a:latin typeface="Aptos"/>
              </a:rPr>
              <a:t>Se registra el hallazgo y se genera una nueva iteración para corregir los artefactos relacionados.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242816"/>
            <a:ext cx="5285232" cy="1408176"/>
          </a:xfrm>
          <a:prstGeom prst="roundRect">
            <a:avLst/>
          </a:prstGeom>
          <a:solidFill>
            <a:srgbClr val="E2EEE9"/>
          </a:solidFill>
          <a:ln w="12700">
            <a:solidFill>
              <a:srgbClr val="E2E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4480560"/>
            <a:ext cx="256032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2E6958"/>
                </a:solidFill>
                <a:latin typeface="Aptos"/>
              </a:rPr>
              <a:t>Si el incremento cumple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5047488"/>
            <a:ext cx="4663440" cy="40233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2B2A26"/>
                </a:solidFill>
                <a:latin typeface="Aptos"/>
              </a:rPr>
              <a:t>Se establece una línea base y comienza una iteración con nuevos casos de uso priorizados.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6062472"/>
            <a:ext cx="10058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664330"/>
                </a:solidFill>
                <a:latin typeface="Aptos"/>
              </a:rPr>
              <a:t>Principio: documentación deficiente → decisiones deficientes → código deficiente.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15  REFLEXIÓN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Conclusión y reflexión del equipo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La metodología es valiosa cuando la documentación guía decisiones reales.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38528"/>
            <a:ext cx="6711696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249424"/>
            <a:ext cx="182880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900" b="1">
                <a:solidFill>
                  <a:srgbClr val="C04E5C"/>
                </a:solidFill>
                <a:latin typeface="Aptos"/>
              </a:rPr>
              <a:t>Conclusión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80360"/>
            <a:ext cx="6099048" cy="24048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500" b="0">
                <a:solidFill>
                  <a:srgbClr val="2B2A26"/>
                </a:solidFill>
                <a:latin typeface="Aptos"/>
              </a:rPr>
              <a:t>El Proceso Unificado permite desarrollar Dolce‑Vita de forma incremental sin perder control sobre requisitos, arquitectura ni calidad. Los casos de uso orientan qué se construye; la arquitectura explica cómo se sostiene; y las iteraciones permiten comprobar ambas decisiones con usuarios reales.
Nuestra reflexión es que documentar no significa acumular diagramas. Su valor aparece cuando cada artefacto se mantiene vigente, ayuda a decidir y puede rastrearse hasta una prueba. Así, el cambio deja de ser una corrección improvisada y se convierte en aprendizaje controlado para la siguiente iteración.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938528"/>
            <a:ext cx="3822191" cy="3886200"/>
          </a:xfrm>
          <a:prstGeom prst="roundRect">
            <a:avLst/>
          </a:prstGeom>
          <a:solidFill>
            <a:srgbClr val="664330"/>
          </a:solidFill>
          <a:ln w="12700">
            <a:solidFill>
              <a:srgbClr val="6643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2377440"/>
            <a:ext cx="31546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DAA64E"/>
                </a:solidFill>
                <a:latin typeface="Aptos"/>
              </a:rPr>
              <a:t>IDEA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3017520"/>
            <a:ext cx="3246120" cy="8686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ptos"/>
              </a:rPr>
              <a:t>Calidad no es
corregir al final.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14232" y="4105656"/>
            <a:ext cx="1874519" cy="36576"/>
          </a:xfrm>
          <a:prstGeom prst="rect">
            <a:avLst/>
          </a:prstGeom>
          <a:solidFill>
            <a:srgbClr val="DAA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65592" y="4480560"/>
            <a:ext cx="2953512" cy="7498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ptos"/>
              </a:rPr>
              <a:t>Es conservar coherencia desde el caso de uso hasta el despliegue.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393192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1">
                <a:solidFill>
                  <a:srgbClr val="C04E5C"/>
                </a:solidFill>
                <a:latin typeface="Aptos"/>
              </a:rPr>
              <a:t>16 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0642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2600" b="1">
                <a:solidFill>
                  <a:srgbClr val="2B2A26"/>
                </a:solidFill>
                <a:latin typeface="Aptos"/>
              </a:rPr>
              <a:t>Bibliografía en formato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88720"/>
            <a:ext cx="109728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46058"/>
                </a:solidFill>
                <a:latin typeface="Aptos"/>
              </a:rPr>
              <a:t>Fuentes utilizadas para fundamentar la propuesta.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18488"/>
            <a:ext cx="685800" cy="45720"/>
          </a:xfrm>
          <a:prstGeom prst="rect">
            <a:avLst/>
          </a:prstGeom>
          <a:solidFill>
            <a:srgbClr val="C04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3657600" cy="1645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900" b="0">
                <a:solidFill>
                  <a:srgbClr val="646058"/>
                </a:solidFill>
                <a:latin typeface="Aptos"/>
              </a:rPr>
              <a:t>Diseño de Software · Semana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92240"/>
            <a:ext cx="438912" cy="2103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/>
            <a:r>
              <a:rPr sz="900" b="0">
                <a:solidFill>
                  <a:srgbClr val="646058"/>
                </a:solidFill>
                <a:latin typeface="Aptos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01952"/>
            <a:ext cx="10881360" cy="4187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176272"/>
            <a:ext cx="10305288" cy="3593592"/>
          </a:xfrm>
          <a:prstGeom prst="rect">
            <a:avLst/>
          </a:prstGeom>
          <a:noFill/>
        </p:spPr>
        <p:txBody>
          <a:bodyPr wrap="none" lIns="18288" rIns="18288">
            <a:sp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2B2A26"/>
                </a:solidFill>
                <a:latin typeface="Aptos"/>
              </a:rPr>
              <a:t>IEEE. (2005). IEEE standard for software configuration management plans (IEEE Std 828-2005).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2B2A26"/>
                </a:solidFill>
                <a:latin typeface="Aptos"/>
              </a:rPr>
              <a:t>Jacobson, I., Booch, G., &amp; Rumbaugh, J. (2000). El proceso unificado de desarrollo de software. Pearson Educación.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2B2A26"/>
                </a:solidFill>
                <a:latin typeface="Aptos"/>
              </a:rPr>
              <a:t>Jacobson, I., Booch, G., &amp; Rumbaugh, J. (2006). El lenguaje unificado de modelado: Guía del usuario. Pearson.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2B2A26"/>
                </a:solidFill>
                <a:latin typeface="Aptos"/>
              </a:rPr>
              <a:t>Project Management Institute. (2017). A guide to the project management body of knowledge (PMBOK® Guide) (6.ª ed.).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2B2A26"/>
                </a:solidFill>
                <a:latin typeface="Aptos"/>
              </a:rPr>
              <a:t>Pressman, R. S. (2010). Ingeniería del software: Un enfoque práctico (7.ª ed.). McGraw-Hill.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2B2A26"/>
                </a:solidFill>
                <a:latin typeface="Aptos"/>
              </a:rPr>
              <a:t>Sommerville, I. (2011). Ingeniería de software (9.ª ed.). Pearson Educación.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2B2A26"/>
                </a:solidFill>
                <a:latin typeface="Aptos"/>
              </a:rPr>
              <a:t>Santo Tomás Online. (s. f.). Diseño de software: Apunte semanal, semana 3 [Material de asignatura].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2B2A26"/>
                </a:solidFill>
                <a:latin typeface="Aptos"/>
              </a:rPr>
              <a:t>Santo Tomás Online. (s. f.). Tabla de fases del Proceso Unificado de Desarrollo de Software [Material de asignatura].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2B2A26"/>
                </a:solidFill>
                <a:latin typeface="Aptos"/>
              </a:rPr>
              <a:t>Santo Tomás Online. (s. f.). Tabla de roles y responsabilidades en el Proceso Unificado [Material de asignatura].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5907024"/>
            <a:ext cx="1024128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000" b="0">
                <a:solidFill>
                  <a:srgbClr val="646058"/>
                </a:solidFill>
                <a:latin typeface="Aptos"/>
              </a:rPr>
              <a:t>Revisar datos de edición y URL institucional antes de la entrega final.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Proceso Unificado aplicado a Dolce‑Vita</dc:title>
  <dc:subject>Actividad sumativa, semana 3 — Diseño de Software</dc:subject>
  <dc:creator>Equipo de trabajo</dc:creator>
  <cp:keywords>Proceso Unificado, SDLC, casos de uso, Dolce-Vita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