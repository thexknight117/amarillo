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CB5E0"/>
          </a:solidFill>
          <a:ln>
            <a:solidFill>
              <a:srgbClr val="1CB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13232"/>
            <a:ext cx="2834640" cy="32004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100" b="1">
                <a:solidFill>
                  <a:srgbClr val="1CB5E0"/>
                </a:solidFill>
                <a:latin typeface="Aptos"/>
              </a:rPr>
              <a:t>ACTIVIDAD FORMATIVA · SEMANA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9052560" cy="150876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Requerimientos para el
registro de usuarios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962656"/>
            <a:ext cx="8046720" cy="59436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900" b="0">
                <a:solidFill>
                  <a:srgbClr val="B8D9FF"/>
                </a:solidFill>
                <a:latin typeface="Aptos"/>
              </a:rPr>
              <a:t>Plataforma de compras en línea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005072"/>
            <a:ext cx="5212080" cy="1508760"/>
          </a:xfrm>
          <a:prstGeom prst="roundRect">
            <a:avLst/>
          </a:prstGeom>
          <a:solidFill>
            <a:srgbClr val="173A5E"/>
          </a:solidFill>
          <a:ln>
            <a:solidFill>
              <a:srgbClr val="2B55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233672"/>
            <a:ext cx="4754880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CRISTOPHER ALEXANDER BAÑARES SUAREZ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99432"/>
            <a:ext cx="4754880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050" b="0">
                <a:solidFill>
                  <a:srgbClr val="D9EAFB"/>
                </a:solidFill>
                <a:latin typeface="Aptos"/>
              </a:rPr>
              <a:t>Carrera: ______________________________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28616"/>
            <a:ext cx="4754880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050" b="0">
                <a:solidFill>
                  <a:srgbClr val="D9EAFB"/>
                </a:solidFill>
                <a:latin typeface="Aptos"/>
              </a:rPr>
              <a:t>Asignatura: Especificación de requerimientos (IGRV0129)</a:t>
            </a:r>
          </a:p>
        </p:txBody>
      </p:sp>
      <p:sp>
        <p:nvSpPr>
          <p:cNvPr id="11" name="Oval 10"/>
          <p:cNvSpPr/>
          <p:nvPr/>
        </p:nvSpPr>
        <p:spPr>
          <a:xfrm>
            <a:off x="7406640" y="4114800"/>
            <a:ext cx="932688" cy="932688"/>
          </a:xfrm>
          <a:prstGeom prst="ellipse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79" y="5166360"/>
            <a:ext cx="12070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4379976"/>
            <a:ext cx="365760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900" b="1">
                <a:solidFill>
                  <a:srgbClr val="1CB5E0"/>
                </a:solidFill>
                <a:latin typeface="Aptos"/>
              </a:rP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8732519" y="4114800"/>
            <a:ext cx="932688" cy="932688"/>
          </a:xfrm>
          <a:prstGeom prst="ellipse">
            <a:avLst/>
          </a:prstGeom>
          <a:solidFill>
            <a:srgbClr val="1CB5E0"/>
          </a:solidFill>
          <a:ln>
            <a:solidFill>
              <a:srgbClr val="1CB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59" y="5166360"/>
            <a:ext cx="12070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Validación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5207" y="4379976"/>
            <a:ext cx="365760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900" b="1">
                <a:solidFill>
                  <a:srgbClr val="1CB5E0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0" y="4114800"/>
            <a:ext cx="932688" cy="932688"/>
          </a:xfrm>
          <a:prstGeom prst="ellipse">
            <a:avLst/>
          </a:prstGeom>
          <a:solidFill>
            <a:srgbClr val="0EAD8E"/>
          </a:solidFill>
          <a:ln>
            <a:solidFill>
              <a:srgbClr val="0EA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1240" y="5166360"/>
            <a:ext cx="12070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Cuenta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INTRODUCCIÓN A LA FUNCIONALIDAD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¿Qué se analizará?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53312"/>
            <a:ext cx="649224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92608" tIns="292608" bIns="292608"/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102A43"/>
                </a:solidFill>
                <a:latin typeface="Aptos"/>
              </a:rPr>
              <a:t>Registro de usuario</a:t>
            </a:r>
          </a:p>
          <a:p>
            <a:pPr algn="l">
              <a:spcAft>
                <a:spcPts val="1500"/>
              </a:spcAft>
            </a:pPr>
            <a:r>
              <a:rPr sz="1300" b="0">
                <a:solidFill>
                  <a:srgbClr val="243B53"/>
                </a:solidFill>
                <a:latin typeface="Aptos"/>
              </a:rPr>
              <a:t>Es el proceso mediante el cual una persona entrega sus datos, crea credenciales y confirma su identidad para obtener una cuenta en una tienda en línea.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677FF"/>
                </a:solidFill>
                <a:latin typeface="Aptos"/>
              </a:rPr>
              <a:t>¿Por qué es importante?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Permite identificar al cliente, proteger su información y habilitar funciones como comprar, consultar pedidos, guardar direcciones y recuperar la contraseña.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627D98"/>
                </a:solidFill>
                <a:latin typeface="Aptos"/>
              </a:rPr>
              <a:t>El análisis separa lo que el sistema debe hacer (RF) de las condiciones de calidad con que debe hacerlo (RNF).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417320"/>
            <a:ext cx="3840480" cy="4160520"/>
          </a:xfrm>
          <a:prstGeom prst="roundRect">
            <a:avLst/>
          </a:prstGeom>
          <a:solidFill>
            <a:srgbClr val="EAF4FF"/>
          </a:solidFill>
          <a:ln>
            <a:solidFill>
              <a:srgbClr val="C6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755648"/>
            <a:ext cx="438912" cy="438912"/>
          </a:xfrm>
          <a:prstGeom prst="ellipse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68512" y="1737360"/>
            <a:ext cx="2331720" cy="4572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Completar formulario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2194560"/>
            <a:ext cx="292608" cy="32004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627D98"/>
                </a:solidFill>
                <a:latin typeface="Aptos"/>
              </a:rPr>
              <a:t>↓</a:t>
            </a:r>
          </a:p>
        </p:txBody>
      </p:sp>
      <p:sp>
        <p:nvSpPr>
          <p:cNvPr id="12" name="Oval 11"/>
          <p:cNvSpPr/>
          <p:nvPr/>
        </p:nvSpPr>
        <p:spPr>
          <a:xfrm>
            <a:off x="8001000" y="2596896"/>
            <a:ext cx="438912" cy="438912"/>
          </a:xfrm>
          <a:prstGeom prst="ellipse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578608"/>
            <a:ext cx="2331720" cy="4572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Validar información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3035808"/>
            <a:ext cx="292608" cy="32004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627D98"/>
                </a:solidFill>
                <a:latin typeface="Aptos"/>
              </a:rPr>
              <a:t>↓</a:t>
            </a:r>
          </a:p>
        </p:txBody>
      </p:sp>
      <p:sp>
        <p:nvSpPr>
          <p:cNvPr id="15" name="Oval 14"/>
          <p:cNvSpPr/>
          <p:nvPr/>
        </p:nvSpPr>
        <p:spPr>
          <a:xfrm>
            <a:off x="8001000" y="3438144"/>
            <a:ext cx="438912" cy="438912"/>
          </a:xfrm>
          <a:prstGeom prst="ellipse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3419856"/>
            <a:ext cx="2331720" cy="4572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tos"/>
              </a:rPr>
              <a:t>Crear cuenta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5008" y="3877056"/>
            <a:ext cx="292608" cy="32004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400" b="0">
                <a:solidFill>
                  <a:srgbClr val="627D98"/>
                </a:solidFill>
                <a:latin typeface="Aptos"/>
              </a:rPr>
              <a:t>↓</a:t>
            </a:r>
          </a:p>
        </p:txBody>
      </p:sp>
      <p:sp>
        <p:nvSpPr>
          <p:cNvPr id="18" name="Oval 17"/>
          <p:cNvSpPr/>
          <p:nvPr/>
        </p:nvSpPr>
        <p:spPr>
          <a:xfrm>
            <a:off x="8001000" y="4279392"/>
            <a:ext cx="438912" cy="438912"/>
          </a:xfrm>
          <a:prstGeom prst="ellipse">
            <a:avLst/>
          </a:prstGeom>
          <a:solidFill>
            <a:srgbClr val="0EAD8E"/>
          </a:solidFill>
          <a:ln>
            <a:solidFill>
              <a:srgbClr val="0EA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4261104"/>
            <a:ext cx="2331720" cy="4572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tos"/>
              </a:rPr>
              <a:t>Verificar correo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QUÉ DEBE HACER 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Requerimientos funcionales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325880"/>
            <a:ext cx="73152" cy="2057400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49047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1453895"/>
            <a:ext cx="749808" cy="310896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Capturar datos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1892807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El sistema deberá solicitar nombre, correo electrónico, contraseña y aceptación de términos.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95351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1677FF"/>
                </a:solidFill>
                <a:latin typeface="Aptos"/>
              </a:rPr>
              <a:t>Define los datos y la acción que el sistema debe ejecutar.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2588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325880"/>
            <a:ext cx="73152" cy="2057400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49047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453895"/>
            <a:ext cx="749808" cy="310896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144475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Validar información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92807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El sistema deberá comprobar campos obligatorios, formato del correo, correo único y política de contraseña.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95351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1677FF"/>
                </a:solidFill>
                <a:latin typeface="Aptos"/>
              </a:rPr>
              <a:t>Es funcional porque describe validaciones concretas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9476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73152" cy="2057400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95935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59" y="3922776"/>
            <a:ext cx="749808" cy="310896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391363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Crear la cuenta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4361688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Si los datos son válidos, el sistema deberá registrar la cuenta y asociarla al correo ingresado.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42239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1677FF"/>
                </a:solidFill>
                <a:latin typeface="Aptos"/>
              </a:rPr>
              <a:t>Representa el servicio principal solicitado por el usuario.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79476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3794760"/>
            <a:ext cx="73152" cy="2057400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95935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922776"/>
            <a:ext cx="749808" cy="310896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RF-04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7768" y="391363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Verificar el correo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361688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El sistema deberá enviar un enlace de verificación y activar la cuenta cuando el usuario lo utilice.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542239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1677FF"/>
                </a:solidFill>
                <a:latin typeface="Aptos"/>
              </a:rPr>
              <a:t>Indica un comportamiento y un resultado observable.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CÓMO DEBE OPERAR 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Requerimientos no funcionales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325880"/>
            <a:ext cx="73152" cy="2057400"/>
          </a:xfrm>
          <a:prstGeom prst="roundRect">
            <a:avLst/>
          </a:prstGeom>
          <a:solidFill>
            <a:srgbClr val="0EAD8E"/>
          </a:solidFill>
          <a:ln>
            <a:solidFill>
              <a:srgbClr val="0EA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49047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59" y="1453895"/>
            <a:ext cx="749808" cy="310896"/>
          </a:xfrm>
          <a:prstGeom prst="roundRect">
            <a:avLst/>
          </a:prstGeom>
          <a:solidFill>
            <a:srgbClr val="0EAD8E"/>
          </a:solidFill>
          <a:ln>
            <a:solidFill>
              <a:srgbClr val="0EA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144475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Usabilidad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1892807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Un usuario nuevo deberá completar el formulario en un máximo de 2 minutos; los errores deberán indicar cómo corregirse.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95351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0EAD8E"/>
                </a:solidFill>
                <a:latin typeface="Aptos"/>
              </a:rPr>
              <a:t>Mide facilidad de uso y comprensión.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2588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325880"/>
            <a:ext cx="73152" cy="2057400"/>
          </a:xfrm>
          <a:prstGeom prst="roundRect">
            <a:avLst/>
          </a:prstGeom>
          <a:solidFill>
            <a:srgbClr val="FF9F43"/>
          </a:solidFill>
          <a:ln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49047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453895"/>
            <a:ext cx="749808" cy="310896"/>
          </a:xfrm>
          <a:prstGeom prst="roundRect">
            <a:avLst/>
          </a:prstGeom>
          <a:solidFill>
            <a:srgbClr val="FF9F43"/>
          </a:solidFill>
          <a:ln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144475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Seguridad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92807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Los datos deberán viajar mediante TLS 1.2 o superior y las contraseñas se almacenarán con hash seguro y salt.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295351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FF9F43"/>
                </a:solidFill>
                <a:latin typeface="Aptos"/>
              </a:rPr>
              <a:t>Restringe cómo se protegen los datos.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9476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73152" cy="2057400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95935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59" y="3922776"/>
            <a:ext cx="749808" cy="310896"/>
          </a:xfrm>
          <a:prstGeom prst="round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391363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Rendimiento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4361688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El 95 % de las solicitudes de registro deberá responder en 2 segundos o menos con 100 usuarios concurrentes.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42239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1677FF"/>
                </a:solidFill>
                <a:latin typeface="Aptos"/>
              </a:rPr>
              <a:t>Establece una medida verificable de velocidad.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794760"/>
            <a:ext cx="5285232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3794760"/>
            <a:ext cx="73152" cy="2057400"/>
          </a:xfrm>
          <a:prstGeom prst="roundRect">
            <a:avLst/>
          </a:prstGeom>
          <a:solidFill>
            <a:srgbClr val="7B61FF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959352"/>
            <a:ext cx="658368" cy="25603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922776"/>
            <a:ext cx="749808" cy="310896"/>
          </a:xfrm>
          <a:prstGeom prst="roundRect">
            <a:avLst/>
          </a:prstGeom>
          <a:solidFill>
            <a:srgbClr val="7B61FF"/>
          </a:solidFill>
          <a:ln>
            <a:solidFill>
              <a:srgbClr val="7B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RNF-04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7768" y="3913632"/>
            <a:ext cx="4096512" cy="34747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tos"/>
              </a:rPr>
              <a:t>Confiabilidad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361688"/>
            <a:ext cx="4864608" cy="6766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>
                <a:solidFill>
                  <a:srgbClr val="243B53"/>
                </a:solidFill>
                <a:latin typeface="Aptos"/>
              </a:rPr>
              <a:t>El servicio de registro deberá alcanzar 99,9 % de disponibilidad mensual y evitar cuentas duplicadas ante reintentos.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5422392"/>
            <a:ext cx="4864608" cy="2743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7B61FF"/>
                </a:solidFill>
                <a:latin typeface="Aptos"/>
              </a:rPr>
              <a:t>Define continuidad y comportamiento ante fallos.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OPERATIVIDAD +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Relación entre requisitos y funcionalidad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3703320" cy="4251960"/>
          </a:xfrm>
          <a:prstGeom prst="roundRect">
            <a:avLst/>
          </a:prstGeom>
          <a:solidFill>
            <a:srgbClr val="EAF4FF"/>
          </a:solidFill>
          <a:ln>
            <a:solidFill>
              <a:srgbClr val="C6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/>
          <a:lstStyle/>
          <a:p>
            <a:pPr algn="l">
              <a:spcAft>
                <a:spcPts val="1400"/>
              </a:spcAft>
            </a:pPr>
            <a:r>
              <a:rPr sz="1200" b="1">
                <a:solidFill>
                  <a:srgbClr val="1677FF"/>
                </a:solidFill>
                <a:latin typeface="Aptos"/>
              </a:rPr>
              <a:t>REQUERIMIENTOS FUNCIONALES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RF-01 captura los datos.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RF-02 evita información inválida.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RF-03 crea la cuenta.</a:t>
            </a: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RF-04 confirma la identidad.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1677FF"/>
                </a:solidFill>
                <a:latin typeface="Aptos"/>
              </a:rPr>
              <a:t>Aseguran la operatividad del proceso.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90688" y="1444752"/>
            <a:ext cx="3703320" cy="4251960"/>
          </a:xfrm>
          <a:prstGeom prst="roundRect">
            <a:avLst/>
          </a:prstGeom>
          <a:solidFill>
            <a:srgbClr val="E7F8F4"/>
          </a:solidFill>
          <a:ln>
            <a:solidFill>
              <a:srgbClr val="B8E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 tIns="274320" bIns="274320"/>
          <a:lstStyle/>
          <a:p>
            <a:pPr algn="l">
              <a:spcAft>
                <a:spcPts val="1400"/>
              </a:spcAft>
            </a:pPr>
            <a:r>
              <a:rPr sz="1200" b="1">
                <a:solidFill>
                  <a:srgbClr val="0EAD8E"/>
                </a:solidFill>
                <a:latin typeface="Aptos"/>
              </a:rPr>
              <a:t>REQUERIMIENTOS NO FUNCIONALES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RNF-01 facilita completar el registro.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RNF-02 protege los datos.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RNF-03 evita esperas excesivas.</a:t>
            </a: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243B53"/>
                </a:solidFill>
                <a:latin typeface="Aptos"/>
              </a:rPr>
              <a:t>RNF-04 mantiene el servicio confiable.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0EAD8E"/>
                </a:solidFill>
                <a:latin typeface="Aptos"/>
              </a:rPr>
              <a:t>Aseguran la calidad del proceso.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2788920"/>
            <a:ext cx="548640" cy="4572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2500" b="1">
                <a:solidFill>
                  <a:srgbClr val="1677FF"/>
                </a:solidFill>
                <a:latin typeface="Apto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788920"/>
            <a:ext cx="548640" cy="4572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2500" b="1">
                <a:solidFill>
                  <a:srgbClr val="0EAD8E"/>
                </a:solidFill>
                <a:latin typeface="Aptos"/>
              </a:rPr>
              <a:t>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2084831"/>
            <a:ext cx="2560320" cy="1901952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REGISTRO
COMPLETO,
SEGURO Y ÁGIL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315968"/>
            <a:ext cx="3858768" cy="7315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27D98"/>
                </a:solidFill>
                <a:latin typeface="Aptos"/>
              </a:rPr>
              <a:t>Los RF permiten que exista la función;
los RNF determinan si funciona con calidad.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COBERTURA 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Matriz de trazabilidad · 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70432"/>
            <a:ext cx="10835640" cy="41148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Cada requerimiento queda conectado con una parte del registro y con una forma concreta de comprobarlo.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719072"/>
          <a:ext cx="10186416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658368"/>
                <a:gridCol w="2057400"/>
                <a:gridCol w="2423160"/>
                <a:gridCol w="4224528"/>
              </a:tblGrid>
              <a:tr h="716889"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ID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Tipo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Descripción breve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Funcionalidad asociada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Caso de uso / prueba sugerida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716889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RF-01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Ingresar datos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Formulario de registro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CU-01 / CP-01: registro válido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889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RF-02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RF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Validar campos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Validación del formulario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CU-02 / CP-02 y CP-03: datos inválidos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716889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RF-03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Crear cuenta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Persistencia de usuario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CU-01 / CP-01: cuenta almacenada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892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RF-04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RF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Verificar correo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Activación de cuenta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CU-03 / CP-04: enlace de activación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" y="5532120"/>
            <a:ext cx="10835640" cy="658368"/>
          </a:xfrm>
          <a:prstGeom prst="roundRect">
            <a:avLst/>
          </a:prstGeom>
          <a:solidFill>
            <a:srgbClr val="EAF4FF"/>
          </a:solidFill>
          <a:ln>
            <a:solidFill>
              <a:srgbClr val="C6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/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02A43"/>
                </a:solidFill>
                <a:latin typeface="Aptos"/>
              </a:rPr>
              <a:t>Casos de uso: CU-01 Registrar usuario · CU-02 Corregir datos inválidos · CU-03 Verificar cuenta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COBERTURA DE CALIDAD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Matriz de trazabilidad · RNF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70432"/>
            <a:ext cx="10835640" cy="41148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tos"/>
              </a:rPr>
              <a:t>Las condiciones de calidad también se vinculan con pruebas medibles, no solo con descripciones generales.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719072"/>
          <a:ext cx="10186416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658368"/>
                <a:gridCol w="2057400"/>
                <a:gridCol w="2423160"/>
                <a:gridCol w="4224528"/>
              </a:tblGrid>
              <a:tr h="716889"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ID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Tipo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Descripción breve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Funcionalidad asociada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Caso de uso / prueba sugerida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716889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RNF-01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Registro ≤ 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Experiencia de registro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CP-05: prueba con usuario nuevo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889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RNF-02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RNF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TLS + hash seguro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Protección de datos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CP-06: revisar tráfico y almacenamiento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716889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RNF-03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RNF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Respuesta ≤ 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Procesamiento de registro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CP-07: carga con 100 usuarios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892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1">
                          <a:solidFill>
                            <a:srgbClr val="243B53"/>
                          </a:solidFill>
                          <a:latin typeface="Aptos"/>
                        </a:rPr>
                        <a:t>RNF-04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RNF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99,9 % y sin duplicados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Disponibilidad e integridad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860" b="0">
                          <a:solidFill>
                            <a:srgbClr val="243B53"/>
                          </a:solidFill>
                          <a:latin typeface="Aptos"/>
                        </a:rPr>
                        <a:t>CP-08: reintento tras interrupción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" y="5532120"/>
            <a:ext cx="10835640" cy="658368"/>
          </a:xfrm>
          <a:prstGeom prst="roundRect">
            <a:avLst/>
          </a:prstGeom>
          <a:solidFill>
            <a:srgbClr val="E7F8F4"/>
          </a:solidFill>
          <a:ln>
            <a:solidFill>
              <a:srgbClr val="B8E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/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EAD8E"/>
                </a:solidFill>
                <a:latin typeface="Aptos"/>
              </a:rPr>
              <a:t>Trazabilidad: requisito → funcionalidad afectada → caso de prueba → evidencia de cumplimiento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CÓMO SE COMPROBARÁ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Casos de prueba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444752"/>
          <a:ext cx="1078992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2057400"/>
                <a:gridCol w="5074920"/>
                <a:gridCol w="2670048"/>
              </a:tblGrid>
              <a:tr h="708660"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Prueba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Escenario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Resultado esperado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 lIns="45720" rIns="45720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Cobertura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708660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1">
                          <a:solidFill>
                            <a:srgbClr val="243B53"/>
                          </a:solidFill>
                          <a:latin typeface="Aptos"/>
                        </a:rPr>
                        <a:t>CP-01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Datos válidos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La cuenta se crea y se envía correo.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RF-01, RF-03, RF-04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1">
                          <a:solidFill>
                            <a:srgbClr val="243B53"/>
                          </a:solidFill>
                          <a:latin typeface="Aptos"/>
                        </a:rPr>
                        <a:t>CP-02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Correo duplicado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Se rechaza y se informa el problema.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RF-02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708660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1">
                          <a:solidFill>
                            <a:srgbClr val="243B53"/>
                          </a:solidFill>
                          <a:latin typeface="Aptos"/>
                        </a:rPr>
                        <a:t>CP-03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Contraseña débil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Se indican las reglas incumplidas.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RF-02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1">
                          <a:solidFill>
                            <a:srgbClr val="243B53"/>
                          </a:solidFill>
                          <a:latin typeface="Aptos"/>
                        </a:rPr>
                        <a:t>CP-04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Enlace de verificación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La cuenta queda activa una sola vez.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RF-04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708660"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1">
                          <a:solidFill>
                            <a:srgbClr val="243B53"/>
                          </a:solidFill>
                          <a:latin typeface="Aptos"/>
                        </a:rPr>
                        <a:t>CP-05–08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ctr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Calidad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Se cumplen tiempo, seguridad, carga y fiabilidad.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54864" bIns="54864" anchor="ctr"/>
                    <a:lstStyle/>
                    <a:p>
                      <a:pPr algn="l"/>
                      <a:r>
                        <a:rPr sz="960" b="0">
                          <a:solidFill>
                            <a:srgbClr val="243B53"/>
                          </a:solidFill>
                          <a:latin typeface="Aptos"/>
                        </a:rPr>
                        <a:t>RNF-01 a RNF-04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870448"/>
            <a:ext cx="10515600" cy="36576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02A43"/>
                </a:solidFill>
                <a:latin typeface="Aptos"/>
              </a:rPr>
              <a:t>Resultado: todos los requerimientos cuentan con una verificación asociada.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9966960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900" b="1">
                <a:solidFill>
                  <a:srgbClr val="1677FF"/>
                </a:solidFill>
                <a:latin typeface="Aptos"/>
              </a:rPr>
              <a:t>FUENTES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12648"/>
            <a:ext cx="10789920" cy="50292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2500" b="1">
                <a:solidFill>
                  <a:srgbClr val="102A43"/>
                </a:solidFill>
                <a:latin typeface="Aptos"/>
              </a:rPr>
              <a:t>Respaldo bibliográfico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38912"/>
            <a:ext cx="438912" cy="438912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5680" y="384048"/>
            <a:ext cx="502920" cy="502920"/>
          </a:xfrm>
          <a:prstGeom prst="roundRect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10789920" cy="932688"/>
          </a:xfrm>
          <a:prstGeom prst="roundRect">
            <a:avLst/>
          </a:prstGeom>
          <a:solidFill>
            <a:srgbClr val="EAF4FF"/>
          </a:solidFill>
          <a:ln>
            <a:solidFill>
              <a:srgbClr val="EA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17904"/>
            <a:ext cx="1874519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1677FF"/>
                </a:solidFill>
                <a:latin typeface="Aptos"/>
              </a:rPr>
              <a:t>FUENTE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63040"/>
            <a:ext cx="8275320" cy="6583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50" b="0">
                <a:solidFill>
                  <a:srgbClr val="243B53"/>
                </a:solidFill>
                <a:latin typeface="Aptos"/>
              </a:rPr>
              <a:t>Sommerville, I. (2011). Ingeniería del Software (9.ª ed.). Pearson Educación. Capítulo 4, pp. 101–111.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560320"/>
            <a:ext cx="10789920" cy="932688"/>
          </a:xfrm>
          <a:prstGeom prst="roundRect">
            <a:avLst/>
          </a:prstGeom>
          <a:solidFill>
            <a:srgbClr val="E7F8F4"/>
          </a:solidFill>
          <a:ln>
            <a:solidFill>
              <a:srgbClr val="E7F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706624"/>
            <a:ext cx="1874519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0EAD8E"/>
                </a:solidFill>
                <a:latin typeface="Aptos"/>
              </a:rPr>
              <a:t>ESTÁNDAR DE REQUISITOS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651760"/>
            <a:ext cx="8275320" cy="6583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50" b="0">
                <a:solidFill>
                  <a:srgbClr val="243B53"/>
                </a:solidFill>
                <a:latin typeface="Aptos"/>
              </a:rPr>
              <a:t>ISO/IEC/IEEE. (2018). ISO/IEC/IEEE 29148:2018: Systems and software engineering — Life cycle processes — Requirements engineering.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49039"/>
            <a:ext cx="10789920" cy="932688"/>
          </a:xfrm>
          <a:prstGeom prst="roundRect">
            <a:avLst/>
          </a:prstGeom>
          <a:solidFill>
            <a:srgbClr val="FFF3E5"/>
          </a:solidFill>
          <a:ln>
            <a:solidFill>
              <a:srgbClr val="FFF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895344"/>
            <a:ext cx="1874519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FF9F43"/>
                </a:solidFill>
                <a:latin typeface="Aptos"/>
              </a:rPr>
              <a:t>SEGURIDAD DE APLICACIONES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840479"/>
            <a:ext cx="8275320" cy="6583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50" b="0">
                <a:solidFill>
                  <a:srgbClr val="243B53"/>
                </a:solidFill>
                <a:latin typeface="Aptos"/>
              </a:rPr>
              <a:t>OWASP Foundation. (2021). Application Security Verification Standard 4.0.3. https://owasp.org/www-project-application-security-verification-standard/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937760"/>
            <a:ext cx="10789920" cy="932688"/>
          </a:xfrm>
          <a:prstGeom prst="roundRect">
            <a:avLst/>
          </a:prstGeom>
          <a:solidFill>
            <a:srgbClr val="F0ECFF"/>
          </a:solidFill>
          <a:ln>
            <a:solidFill>
              <a:srgbClr val="F0E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084064"/>
            <a:ext cx="1874519" cy="228600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l"/>
            <a:r>
              <a:rPr sz="850" b="1">
                <a:solidFill>
                  <a:srgbClr val="7B61FF"/>
                </a:solidFill>
                <a:latin typeface="Aptos"/>
              </a:rPr>
              <a:t>APUNTE DE LA SEMANA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5029200"/>
            <a:ext cx="8275320" cy="6583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50" b="0">
                <a:solidFill>
                  <a:srgbClr val="243B53"/>
                </a:solidFill>
                <a:latin typeface="Aptos"/>
              </a:rPr>
              <a:t>Santo Tomás Online. (2026). Especificación de requerimientos: Apunte semana 2.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63640"/>
            <a:ext cx="10789920" cy="201168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ctr"/>
            <a:r>
              <a:rPr sz="850" b="0">
                <a:solidFill>
                  <a:srgbClr val="627D98"/>
                </a:solidFill>
                <a:latin typeface="Aptos"/>
              </a:rPr>
              <a:t>Las definiciones y la clasificación de RF/RNF se basan principalmente en Sommerville (2011, pp. 101–111).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10528"/>
            <a:ext cx="10972800" cy="146304"/>
          </a:xfrm>
          <a:prstGeom prst="rect">
            <a:avLst/>
          </a:prstGeom>
          <a:noFill/>
        </p:spPr>
        <p:txBody>
          <a:bodyPr wrap="none" lIns="73152" rIns="73152" tIns="73152" bIns="73152" anchor="ctr">
            <a:spAutoFit/>
          </a:bodyPr>
          <a:lstStyle/>
          <a:p>
            <a:pPr algn="r"/>
            <a:r>
              <a:rPr sz="750" b="0">
                <a:solidFill>
                  <a:srgbClr val="627D98"/>
                </a:solidFill>
                <a:latin typeface="Aptos"/>
              </a:rPr>
              <a:t>IGRV0129  |  Especificación de requerimientos  |  Semana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